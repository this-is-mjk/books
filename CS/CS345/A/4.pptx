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1"/>
  </p:notesMasterIdLst>
  <p:sldIdLst>
    <p:sldId id="492" r:id="rId2"/>
    <p:sldId id="479" r:id="rId3"/>
    <p:sldId id="732" r:id="rId4"/>
    <p:sldId id="733" r:id="rId5"/>
    <p:sldId id="550" r:id="rId6"/>
    <p:sldId id="731" r:id="rId7"/>
    <p:sldId id="696" r:id="rId8"/>
    <p:sldId id="714" r:id="rId9"/>
    <p:sldId id="706" r:id="rId10"/>
    <p:sldId id="708" r:id="rId11"/>
    <p:sldId id="710" r:id="rId12"/>
    <p:sldId id="709" r:id="rId13"/>
    <p:sldId id="711" r:id="rId14"/>
    <p:sldId id="715" r:id="rId15"/>
    <p:sldId id="712" r:id="rId16"/>
    <p:sldId id="713" r:id="rId17"/>
    <p:sldId id="725" r:id="rId18"/>
    <p:sldId id="730" r:id="rId19"/>
    <p:sldId id="71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3" autoAdjust="0"/>
    <p:restoredTop sz="92051" autoAdjust="0"/>
  </p:normalViewPr>
  <p:slideViewPr>
    <p:cSldViewPr>
      <p:cViewPr varScale="1">
        <p:scale>
          <a:sx n="103" d="100"/>
          <a:sy n="103" d="100"/>
        </p:scale>
        <p:origin x="106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3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1.png"/><Relationship Id="rId5" Type="http://schemas.openxmlformats.org/officeDocument/2006/relationships/image" Target="../media/image382.png"/><Relationship Id="rId4" Type="http://schemas.openxmlformats.org/officeDocument/2006/relationships/image" Target="../media/image37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13.png"/><Relationship Id="rId7" Type="http://schemas.openxmlformats.org/officeDocument/2006/relationships/image" Target="../media/image7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10.png"/><Relationship Id="rId4" Type="http://schemas.openxmlformats.org/officeDocument/2006/relationships/image" Target="../media/image511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10.png"/><Relationship Id="rId7" Type="http://schemas.openxmlformats.org/officeDocument/2006/relationships/image" Target="../media/image511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70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413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52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5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511.png"/><Relationship Id="rId10" Type="http://schemas.openxmlformats.org/officeDocument/2006/relationships/image" Target="../media/image162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4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8.png"/><Relationship Id="rId18" Type="http://schemas.openxmlformats.org/officeDocument/2006/relationships/image" Target="../media/image37.png"/><Relationship Id="rId3" Type="http://schemas.openxmlformats.org/officeDocument/2006/relationships/image" Target="../media/image10.png"/><Relationship Id="rId21" Type="http://schemas.openxmlformats.org/officeDocument/2006/relationships/image" Target="../media/image7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36.png"/><Relationship Id="rId2" Type="http://schemas.openxmlformats.org/officeDocument/2006/relationships/image" Target="../media/image312.png"/><Relationship Id="rId16" Type="http://schemas.openxmlformats.org/officeDocument/2006/relationships/image" Target="../media/image35.png"/><Relationship Id="rId20" Type="http://schemas.openxmlformats.org/officeDocument/2006/relationships/image" Target="../media/image5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32.png"/><Relationship Id="rId10" Type="http://schemas.openxmlformats.org/officeDocument/2006/relationships/image" Target="../media/image20.png"/><Relationship Id="rId19" Type="http://schemas.openxmlformats.org/officeDocument/2006/relationships/image" Target="../media/image413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8.png"/><Relationship Id="rId18" Type="http://schemas.openxmlformats.org/officeDocument/2006/relationships/image" Target="../media/image42.png"/><Relationship Id="rId3" Type="http://schemas.openxmlformats.org/officeDocument/2006/relationships/image" Target="../media/image10.png"/><Relationship Id="rId21" Type="http://schemas.openxmlformats.org/officeDocument/2006/relationships/image" Target="../media/image44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17" Type="http://schemas.openxmlformats.org/officeDocument/2006/relationships/image" Target="../media/image40.png"/><Relationship Id="rId25" Type="http://schemas.openxmlformats.org/officeDocument/2006/relationships/image" Target="../media/image15.png"/><Relationship Id="rId2" Type="http://schemas.openxmlformats.org/officeDocument/2006/relationships/image" Target="../media/image312.png"/><Relationship Id="rId16" Type="http://schemas.openxmlformats.org/officeDocument/2006/relationships/image" Target="../media/image39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20.png"/><Relationship Id="rId24" Type="http://schemas.openxmlformats.org/officeDocument/2006/relationships/image" Target="../media/image511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23" Type="http://schemas.openxmlformats.org/officeDocument/2006/relationships/image" Target="../media/image413.png"/><Relationship Id="rId10" Type="http://schemas.openxmlformats.org/officeDocument/2006/relationships/image" Target="../media/image13.png"/><Relationship Id="rId19" Type="http://schemas.openxmlformats.org/officeDocument/2006/relationships/image" Target="../media/image43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8.png"/><Relationship Id="rId18" Type="http://schemas.openxmlformats.org/officeDocument/2006/relationships/image" Target="../media/image510.png"/><Relationship Id="rId26" Type="http://schemas.openxmlformats.org/officeDocument/2006/relationships/image" Target="../media/image16.png"/><Relationship Id="rId3" Type="http://schemas.openxmlformats.org/officeDocument/2006/relationships/image" Target="../media/image10.png"/><Relationship Id="rId21" Type="http://schemas.openxmlformats.org/officeDocument/2006/relationships/image" Target="../media/image511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17" Type="http://schemas.openxmlformats.org/officeDocument/2006/relationships/image" Target="../media/image49.png"/><Relationship Id="rId25" Type="http://schemas.openxmlformats.org/officeDocument/2006/relationships/image" Target="../media/image54.png"/><Relationship Id="rId2" Type="http://schemas.openxmlformats.org/officeDocument/2006/relationships/image" Target="../media/image312.png"/><Relationship Id="rId16" Type="http://schemas.openxmlformats.org/officeDocument/2006/relationships/image" Target="../media/image47.png"/><Relationship Id="rId20" Type="http://schemas.openxmlformats.org/officeDocument/2006/relationships/image" Target="../media/image4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20.png"/><Relationship Id="rId24" Type="http://schemas.openxmlformats.org/officeDocument/2006/relationships/image" Target="../media/image53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23" Type="http://schemas.openxmlformats.org/officeDocument/2006/relationships/image" Target="../media/image37.png"/><Relationship Id="rId10" Type="http://schemas.openxmlformats.org/officeDocument/2006/relationships/image" Target="../media/image13.png"/><Relationship Id="rId19" Type="http://schemas.openxmlformats.org/officeDocument/2006/relationships/image" Target="../media/image52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.png"/><Relationship Id="rId18" Type="http://schemas.openxmlformats.org/officeDocument/2006/relationships/image" Target="../media/image58.png"/><Relationship Id="rId3" Type="http://schemas.openxmlformats.org/officeDocument/2006/relationships/image" Target="../media/image10.png"/><Relationship Id="rId21" Type="http://schemas.openxmlformats.org/officeDocument/2006/relationships/image" Target="../media/image61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31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20.png"/><Relationship Id="rId24" Type="http://schemas.openxmlformats.org/officeDocument/2006/relationships/image" Target="../media/image19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23" Type="http://schemas.openxmlformats.org/officeDocument/2006/relationships/image" Target="../media/image511.png"/><Relationship Id="rId10" Type="http://schemas.openxmlformats.org/officeDocument/2006/relationships/image" Target="../media/image13.png"/><Relationship Id="rId19" Type="http://schemas.openxmlformats.org/officeDocument/2006/relationships/image" Target="../media/image59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4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.png"/><Relationship Id="rId18" Type="http://schemas.openxmlformats.org/officeDocument/2006/relationships/image" Target="../media/image58.png"/><Relationship Id="rId3" Type="http://schemas.openxmlformats.org/officeDocument/2006/relationships/image" Target="../media/image10.png"/><Relationship Id="rId21" Type="http://schemas.openxmlformats.org/officeDocument/2006/relationships/image" Target="../media/image60.png"/><Relationship Id="rId7" Type="http://schemas.openxmlformats.org/officeDocument/2006/relationships/image" Target="../media/image6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312.png"/><Relationship Id="rId16" Type="http://schemas.openxmlformats.org/officeDocument/2006/relationships/image" Target="../media/image56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20.png"/><Relationship Id="rId24" Type="http://schemas.openxmlformats.org/officeDocument/2006/relationships/image" Target="../media/image511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23" Type="http://schemas.openxmlformats.org/officeDocument/2006/relationships/image" Target="../media/image413.png"/><Relationship Id="rId10" Type="http://schemas.openxmlformats.org/officeDocument/2006/relationships/image" Target="../media/image13.png"/><Relationship Id="rId19" Type="http://schemas.openxmlformats.org/officeDocument/2006/relationships/image" Target="../media/image59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8.png"/><Relationship Id="rId18" Type="http://schemas.openxmlformats.org/officeDocument/2006/relationships/image" Target="../media/image67.png"/><Relationship Id="rId26" Type="http://schemas.openxmlformats.org/officeDocument/2006/relationships/image" Target="../media/image511.png"/><Relationship Id="rId3" Type="http://schemas.openxmlformats.org/officeDocument/2006/relationships/image" Target="../media/image10.png"/><Relationship Id="rId21" Type="http://schemas.openxmlformats.org/officeDocument/2006/relationships/image" Target="../media/image71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17" Type="http://schemas.openxmlformats.org/officeDocument/2006/relationships/image" Target="../media/image66.png"/><Relationship Id="rId25" Type="http://schemas.openxmlformats.org/officeDocument/2006/relationships/image" Target="../media/image413.png"/><Relationship Id="rId2" Type="http://schemas.openxmlformats.org/officeDocument/2006/relationships/image" Target="../media/image312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17.png"/><Relationship Id="rId24" Type="http://schemas.openxmlformats.org/officeDocument/2006/relationships/image" Target="../media/image74.png"/><Relationship Id="rId5" Type="http://schemas.openxmlformats.org/officeDocument/2006/relationships/image" Target="../media/image12.png"/><Relationship Id="rId15" Type="http://schemas.openxmlformats.org/officeDocument/2006/relationships/image" Target="../media/image64.png"/><Relationship Id="rId23" Type="http://schemas.openxmlformats.org/officeDocument/2006/relationships/image" Target="../media/image73.png"/><Relationship Id="rId10" Type="http://schemas.openxmlformats.org/officeDocument/2006/relationships/image" Target="../media/image20.png"/><Relationship Id="rId19" Type="http://schemas.openxmlformats.org/officeDocument/2006/relationships/image" Target="../media/image68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63.png"/><Relationship Id="rId22" Type="http://schemas.openxmlformats.org/officeDocument/2006/relationships/image" Target="../media/image72.png"/><Relationship Id="rId27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180.png"/><Relationship Id="rId18" Type="http://schemas.openxmlformats.org/officeDocument/2006/relationships/image" Target="../media/image670.png"/><Relationship Id="rId26" Type="http://schemas.openxmlformats.org/officeDocument/2006/relationships/image" Target="../media/image50.png"/><Relationship Id="rId3" Type="http://schemas.openxmlformats.org/officeDocument/2006/relationships/image" Target="../media/image100.png"/><Relationship Id="rId21" Type="http://schemas.openxmlformats.org/officeDocument/2006/relationships/image" Target="../media/image710.png"/><Relationship Id="rId7" Type="http://schemas.openxmlformats.org/officeDocument/2006/relationships/image" Target="../media/image6.png"/><Relationship Id="rId12" Type="http://schemas.openxmlformats.org/officeDocument/2006/relationships/image" Target="../media/image80.png"/><Relationship Id="rId17" Type="http://schemas.openxmlformats.org/officeDocument/2006/relationships/image" Target="../media/image660.png"/><Relationship Id="rId25" Type="http://schemas.openxmlformats.org/officeDocument/2006/relationships/image" Target="../media/image4130.png"/><Relationship Id="rId2" Type="http://schemas.openxmlformats.org/officeDocument/2006/relationships/image" Target="../media/image3120.png"/><Relationship Id="rId16" Type="http://schemas.openxmlformats.org/officeDocument/2006/relationships/image" Target="../media/image650.png"/><Relationship Id="rId20" Type="http://schemas.openxmlformats.org/officeDocument/2006/relationships/image" Target="../media/image690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11" Type="http://schemas.openxmlformats.org/officeDocument/2006/relationships/image" Target="../media/image170.png"/><Relationship Id="rId24" Type="http://schemas.openxmlformats.org/officeDocument/2006/relationships/image" Target="../media/image740.png"/><Relationship Id="rId32" Type="http://schemas.openxmlformats.org/officeDocument/2006/relationships/image" Target="../media/image190.png"/><Relationship Id="rId5" Type="http://schemas.openxmlformats.org/officeDocument/2006/relationships/image" Target="../media/image120.png"/><Relationship Id="rId15" Type="http://schemas.openxmlformats.org/officeDocument/2006/relationships/image" Target="../media/image640.png"/><Relationship Id="rId23" Type="http://schemas.openxmlformats.org/officeDocument/2006/relationships/image" Target="../media/image730.png"/><Relationship Id="rId28" Type="http://schemas.openxmlformats.org/officeDocument/2006/relationships/image" Target="../media/image30.png"/><Relationship Id="rId10" Type="http://schemas.openxmlformats.org/officeDocument/2006/relationships/image" Target="../media/image200.png"/><Relationship Id="rId19" Type="http://schemas.openxmlformats.org/officeDocument/2006/relationships/image" Target="../media/image680.png"/><Relationship Id="rId31" Type="http://schemas.openxmlformats.org/officeDocument/2006/relationships/image" Target="../media/image160.png"/><Relationship Id="rId4" Type="http://schemas.openxmlformats.org/officeDocument/2006/relationships/image" Target="../media/image110.png"/><Relationship Id="rId9" Type="http://schemas.openxmlformats.org/officeDocument/2006/relationships/image" Target="../media/image130.png"/><Relationship Id="rId14" Type="http://schemas.openxmlformats.org/officeDocument/2006/relationships/image" Target="../media/image630.png"/><Relationship Id="rId22" Type="http://schemas.openxmlformats.org/officeDocument/2006/relationships/image" Target="../media/image720.png"/><Relationship Id="rId27" Type="http://schemas.openxmlformats.org/officeDocument/2006/relationships/image" Target="../media/image750.png"/><Relationship Id="rId30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14400" y="4515088"/>
                <a:ext cx="7239000" cy="1600200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>
                <a:normAutofit/>
              </a:bodyPr>
              <a:lstStyle/>
              <a:p>
                <a:pPr>
                  <a:defRPr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Assignment 4</a:t>
                </a:r>
              </a:p>
              <a:p>
                <a:pPr algn="l">
                  <a:defRPr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                     Transitive Closure in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O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𝝎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time 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14400" y="4515088"/>
                <a:ext cx="7239000" cy="16002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Recall </a:t>
                </a:r>
                <a:r>
                  <a:rPr lang="en-US" b="1" dirty="0">
                    <a:solidFill>
                      <a:srgbClr val="7030A0"/>
                    </a:solidFill>
                  </a:rPr>
                  <a:t>Lecture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𝟏𝟗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2000" b="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transitive closure of graph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Assignment 4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Design an algorithm to compute transitive closure of graph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3"/>
                <a:stretch>
                  <a:fillRect l="-702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4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6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96DC4-AC23-2842-835F-3F346AC31794}"/>
                  </a:ext>
                </a:extLst>
              </p:cNvPr>
              <p:cNvSpPr txBox="1"/>
              <p:nvPr/>
            </p:nvSpPr>
            <p:spPr>
              <a:xfrm>
                <a:off x="3003301" y="3059668"/>
                <a:ext cx="3137397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b="1" dirty="0"/>
                  <a:t> Matrix Multiplications  </a:t>
                </a:r>
                <a:r>
                  <a:rPr lang="en-US" b="1" dirty="0">
                    <a:sym typeface="Wingdings" pitchFamily="2" charset="2"/>
                  </a:rPr>
                  <a:t></a:t>
                </a:r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96DC4-AC23-2842-835F-3F346AC31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301" y="3059668"/>
                <a:ext cx="3137397" cy="369332"/>
              </a:xfrm>
              <a:prstGeom prst="rect">
                <a:avLst/>
              </a:prstGeom>
              <a:blipFill>
                <a:blip r:embed="rId8"/>
                <a:stretch>
                  <a:fillRect l="-388" t="-9524" r="-77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09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6544-456A-D41D-C6A7-099A4A8D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First let us understand </a:t>
            </a:r>
            <a:br>
              <a:rPr lang="en-US" sz="2800" dirty="0"/>
            </a:br>
            <a:r>
              <a:rPr lang="en-US" sz="2800" dirty="0"/>
              <a:t>what the problem </a:t>
            </a:r>
            <a:r>
              <a:rPr lang="en-US" sz="2800" b="1" dirty="0">
                <a:solidFill>
                  <a:srgbClr val="C00000"/>
                </a:solidFill>
              </a:rPr>
              <a:t>means</a:t>
            </a:r>
            <a:endParaRPr lang="en-IN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B3A58-FCB4-3676-DBB8-85C980ABE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Question 1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Does it mean that we require just a constant number of matrix multiplications?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Answer</a:t>
                </a:r>
                <a:r>
                  <a:rPr lang="en-US" sz="2000" dirty="0">
                    <a:solidFill>
                      <a:srgbClr val="0070C0"/>
                    </a:solidFill>
                  </a:rPr>
                  <a:t>: No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Question 2</a:t>
                </a:r>
                <a:r>
                  <a:rPr lang="en-US" sz="2000" dirty="0"/>
                  <a:t>: What is answer to the following recurrence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00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Ponder over the above 2 questions and their answers. How would you proceed 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B3A58-FCB4-3676-DBB8-85C980ABE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24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6F2E-14B1-0960-1291-46AE200F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F1643-5385-9B41-94E2-28D2EBFD0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Question</a:t>
            </a:r>
            <a:r>
              <a:rPr lang="en-US" sz="2000" dirty="0"/>
              <a:t>: Can you work with simpler graph?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dirty="0"/>
              <a:t>               Recall some tool we developed in the course itself.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371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Idea</a:t>
            </a:r>
            <a:r>
              <a:rPr lang="en-US" sz="2000" dirty="0"/>
              <a:t>: It suffices to compute transitive closure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b="1" dirty="0"/>
              <a:t> graph.</a:t>
            </a:r>
          </a:p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b="1" dirty="0"/>
              <a:t>: How </a:t>
            </a:r>
            <a:r>
              <a:rPr lang="en-US" sz="2000" dirty="0"/>
              <a:t>does its </a:t>
            </a:r>
            <a:r>
              <a:rPr lang="en-US" sz="2000" b="1" dirty="0"/>
              <a:t>Adjacency Matrix </a:t>
            </a:r>
            <a:r>
              <a:rPr lang="en-US" sz="2000" dirty="0"/>
              <a:t>look like ?</a:t>
            </a:r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Nothing special </a:t>
            </a:r>
            <a:r>
              <a:rPr lang="en-US" sz="2000" dirty="0">
                <a:sym typeface="Wingdings" panose="05000000000000000000" pitchFamily="2" charset="2"/>
              </a:rPr>
              <a:t>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What if you relabel the vertices according to topological ordering?</a:t>
            </a:r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</a:t>
            </a:r>
            <a:r>
              <a:rPr lang="en-US" sz="2400" b="1" dirty="0">
                <a:solidFill>
                  <a:srgbClr val="0070C0"/>
                </a:solidFill>
              </a:rPr>
              <a:t>Upper Triangular </a:t>
            </a:r>
            <a:r>
              <a:rPr lang="en-US" sz="2400" dirty="0"/>
              <a:t>Matrix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4495800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57B66-4DEA-714D-A1D4-CAEB5AF7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Make use of the </a:t>
            </a:r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4495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0641515"/>
                  </p:ext>
                </p:extLst>
              </p:nvPr>
            </p:nvGraphicFramePr>
            <p:xfrm>
              <a:off x="3276600" y="4495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930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7B66-4DEA-714D-A1D4-CAEB5AF7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High level overview of the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915400" cy="452596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Our algorithm will work on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SCC </a:t>
                </a:r>
                <a:r>
                  <a:rPr lang="en-US" sz="2000" dirty="0"/>
                  <a:t>graph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 algorithm will compute the transitive closure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000" dirty="0"/>
                  <a:t> of the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SCC </a:t>
                </a:r>
                <a:r>
                  <a:rPr lang="en-US" sz="2000" dirty="0"/>
                  <a:t>graph.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 algorithm will pursue </a:t>
                </a:r>
                <a:r>
                  <a:rPr lang="en-US" sz="2000" b="1" dirty="0"/>
                  <a:t>Divide and Conquer </a:t>
                </a:r>
                <a:r>
                  <a:rPr lang="en-US" sz="2000" dirty="0"/>
                  <a:t>paradigm.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Important Advice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Spend sufficient time on the above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000" dirty="0"/>
                  <a:t> points before moving ahead.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7400-1A41-C94D-AECB-C9CA03955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915400" cy="4525963"/>
              </a:xfrm>
              <a:blipFill>
                <a:blip r:embed="rId2"/>
                <a:stretch>
                  <a:fillRect l="-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133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518655"/>
                  </p:ext>
                </p:extLst>
              </p:nvPr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518655"/>
                  </p:ext>
                </p:extLst>
              </p:nvPr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C7B01D-10C4-D380-5462-087C90B39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434341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C7B01D-10C4-D380-5462-087C90B39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434341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0822C24-D2DA-2CA1-3CF8-F5715492C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2773599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0822C24-D2DA-2CA1-3CF8-F5715492CF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2773599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2">
            <a:extLst>
              <a:ext uri="{FF2B5EF4-FFF2-40B4-BE49-F238E27FC236}">
                <a16:creationId xmlns:a16="http://schemas.microsoft.com/office/drawing/2014/main" id="{AB03CA9C-BA33-DF49-7A56-3AE7E354D480}"/>
              </a:ext>
            </a:extLst>
          </p:cNvPr>
          <p:cNvCxnSpPr>
            <a:cxnSpLocks/>
          </p:cNvCxnSpPr>
          <p:nvPr/>
        </p:nvCxnSpPr>
        <p:spPr>
          <a:xfrm>
            <a:off x="6361770" y="5065624"/>
            <a:ext cx="382859" cy="12700"/>
          </a:xfrm>
          <a:prstGeom prst="curvedConnector3">
            <a:avLst>
              <a:gd name="adj1" fmla="val 4622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8">
            <a:extLst>
              <a:ext uri="{FF2B5EF4-FFF2-40B4-BE49-F238E27FC236}">
                <a16:creationId xmlns:a16="http://schemas.microsoft.com/office/drawing/2014/main" id="{9E9CAD0C-677F-4C7C-199A-5074A055F2CD}"/>
              </a:ext>
            </a:extLst>
          </p:cNvPr>
          <p:cNvCxnSpPr/>
          <p:nvPr/>
        </p:nvCxnSpPr>
        <p:spPr>
          <a:xfrm rot="16200000" flipH="1">
            <a:off x="4323380" y="4826970"/>
            <a:ext cx="12700" cy="569561"/>
          </a:xfrm>
          <a:prstGeom prst="curvedConnector3">
            <a:avLst>
              <a:gd name="adj1" fmla="val 2678047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57">
            <a:extLst>
              <a:ext uri="{FF2B5EF4-FFF2-40B4-BE49-F238E27FC236}">
                <a16:creationId xmlns:a16="http://schemas.microsoft.com/office/drawing/2014/main" id="{6B2C410A-8BDC-FCDB-88B4-1D40F7EBC713}"/>
              </a:ext>
            </a:extLst>
          </p:cNvPr>
          <p:cNvCxnSpPr/>
          <p:nvPr/>
        </p:nvCxnSpPr>
        <p:spPr>
          <a:xfrm rot="16200000" flipH="1">
            <a:off x="3172172" y="4826970"/>
            <a:ext cx="12700" cy="569561"/>
          </a:xfrm>
          <a:prstGeom prst="curvedConnector3">
            <a:avLst>
              <a:gd name="adj1" fmla="val 2678047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58">
            <a:extLst>
              <a:ext uri="{FF2B5EF4-FFF2-40B4-BE49-F238E27FC236}">
                <a16:creationId xmlns:a16="http://schemas.microsoft.com/office/drawing/2014/main" id="{9797DEC3-3673-B9B2-D48F-5FEC871EE9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68183" y="3699417"/>
            <a:ext cx="7434" cy="2819400"/>
          </a:xfrm>
          <a:prstGeom prst="curvedConnector3">
            <a:avLst>
              <a:gd name="adj1" fmla="val -11025222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25">
            <a:extLst>
              <a:ext uri="{FF2B5EF4-FFF2-40B4-BE49-F238E27FC236}">
                <a16:creationId xmlns:a16="http://schemas.microsoft.com/office/drawing/2014/main" id="{EFC7E358-446D-E047-1238-BF6852BBE218}"/>
              </a:ext>
            </a:extLst>
          </p:cNvPr>
          <p:cNvCxnSpPr/>
          <p:nvPr/>
        </p:nvCxnSpPr>
        <p:spPr>
          <a:xfrm rot="16200000" flipH="1">
            <a:off x="2320383" y="4535759"/>
            <a:ext cx="7434" cy="1146717"/>
          </a:xfrm>
          <a:prstGeom prst="curvedConnector3">
            <a:avLst>
              <a:gd name="adj1" fmla="val 578941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57" name="Curved Connector 57">
            <a:extLst>
              <a:ext uri="{FF2B5EF4-FFF2-40B4-BE49-F238E27FC236}">
                <a16:creationId xmlns:a16="http://schemas.microsoft.com/office/drawing/2014/main" id="{B1C9CBCC-019D-7CFE-AED4-B31E0106C0D4}"/>
              </a:ext>
            </a:extLst>
          </p:cNvPr>
          <p:cNvCxnSpPr/>
          <p:nvPr/>
        </p:nvCxnSpPr>
        <p:spPr>
          <a:xfrm rot="16200000" flipH="1">
            <a:off x="6056844" y="4852268"/>
            <a:ext cx="12700" cy="569561"/>
          </a:xfrm>
          <a:prstGeom prst="curvedConnector3">
            <a:avLst>
              <a:gd name="adj1" fmla="val 2678047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25">
            <a:extLst>
              <a:ext uri="{FF2B5EF4-FFF2-40B4-BE49-F238E27FC236}">
                <a16:creationId xmlns:a16="http://schemas.microsoft.com/office/drawing/2014/main" id="{52A7B56F-7D53-70D9-ECF7-4D9001AB4652}"/>
              </a:ext>
            </a:extLst>
          </p:cNvPr>
          <p:cNvCxnSpPr/>
          <p:nvPr/>
        </p:nvCxnSpPr>
        <p:spPr>
          <a:xfrm rot="16200000" flipH="1">
            <a:off x="5751242" y="4598669"/>
            <a:ext cx="7434" cy="1146717"/>
          </a:xfrm>
          <a:prstGeom prst="curvedConnector3">
            <a:avLst>
              <a:gd name="adj1" fmla="val 578941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FE1725-2F6E-0E99-0D16-503F09FB653D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FE1725-2F6E-0E99-0D16-503F09FB6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8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ctangle 74">
            <a:extLst>
              <a:ext uri="{FF2B5EF4-FFF2-40B4-BE49-F238E27FC236}">
                <a16:creationId xmlns:a16="http://schemas.microsoft.com/office/drawing/2014/main" id="{5610B202-D223-A417-05E5-4DB15498F060}"/>
              </a:ext>
            </a:extLst>
          </p:cNvPr>
          <p:cNvSpPr/>
          <p:nvPr/>
        </p:nvSpPr>
        <p:spPr>
          <a:xfrm>
            <a:off x="3628350" y="4297680"/>
            <a:ext cx="1752600" cy="521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FEE1D16-3A98-F18A-3CFD-891C5D99CA5B}"/>
                  </a:ext>
                </a:extLst>
              </p:cNvPr>
              <p:cNvSpPr txBox="1"/>
              <p:nvPr/>
            </p:nvSpPr>
            <p:spPr>
              <a:xfrm>
                <a:off x="234429" y="5038433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SCC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FEE1D16-3A98-F18A-3CFD-891C5D99C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" y="5038433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 l="-5839" t="-10000" r="-6569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957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28" grpId="0"/>
      <p:bldP spid="67" grpId="0"/>
      <p:bldP spid="74" grpId="0"/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C7B01D-10C4-D380-5462-087C90B392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C7B01D-10C4-D380-5462-087C90B392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0822C24-D2DA-2CA1-3CF8-F5715492CF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00822C24-D2DA-2CA1-3CF8-F5715492CF4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FE1725-2F6E-0E99-0D16-503F09FB653D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FE1725-2F6E-0E99-0D16-503F09FB6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1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1956A7-D364-77D2-28BC-6395D3C3DA06}"/>
              </a:ext>
            </a:extLst>
          </p:cNvPr>
          <p:cNvSpPr txBox="1"/>
          <p:nvPr/>
        </p:nvSpPr>
        <p:spPr>
          <a:xfrm>
            <a:off x="0" y="-13505"/>
            <a:ext cx="120885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Divide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095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9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3286667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64794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794" y="5193268"/>
                <a:ext cx="3186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3295947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947" y="5193268"/>
                <a:ext cx="324897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2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CF5C8662-4D91-39FC-4614-8DBA9680E5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2131498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CF5C8662-4D91-39FC-4614-8DBA9680E5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2131498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1A75190-3942-6D29-D026-9B055D1B5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4131758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1A75190-3942-6D29-D026-9B055D1B54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4131758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AA41A366-7472-854F-1DE5-1467BDDB8C4F}"/>
              </a:ext>
            </a:extLst>
          </p:cNvPr>
          <p:cNvSpPr/>
          <p:nvPr/>
        </p:nvSpPr>
        <p:spPr>
          <a:xfrm>
            <a:off x="4191000" y="5398532"/>
            <a:ext cx="5087991" cy="1058011"/>
          </a:xfrm>
          <a:prstGeom prst="cloudCallout">
            <a:avLst>
              <a:gd name="adj1" fmla="val 17815"/>
              <a:gd name="adj2" fmla="val 8016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will you compute transitive closure of such pairs of vertices ? Spend sufficient time…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9722C7-C8FD-AAFA-55F6-D3BE2808C3B7}"/>
              </a:ext>
            </a:extLst>
          </p:cNvPr>
          <p:cNvSpPr txBox="1"/>
          <p:nvPr/>
        </p:nvSpPr>
        <p:spPr>
          <a:xfrm>
            <a:off x="0" y="-13505"/>
            <a:ext cx="120885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Divide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857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  <p:bldP spid="2" grpId="0"/>
      <p:bldP spid="19" grpId="0"/>
      <p:bldP spid="14" grpId="0" animBg="1"/>
      <p:bldP spid="1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9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50292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50153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388" y="5193268"/>
                <a:ext cx="3186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2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3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C8F8341C-57FC-FC3F-5274-554328BB7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C8F8341C-57FC-FC3F-5274-554328BB7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38328E53-345A-D7FD-EA98-CC1D72E8BC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38328E53-345A-D7FD-EA98-CC1D72E8BC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5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22E05A65-8A51-388E-226D-6722EA7E3F63}"/>
              </a:ext>
            </a:extLst>
          </p:cNvPr>
          <p:cNvSpPr/>
          <p:nvPr/>
        </p:nvSpPr>
        <p:spPr>
          <a:xfrm>
            <a:off x="4124867" y="5562600"/>
            <a:ext cx="5126435" cy="1056493"/>
          </a:xfrm>
          <a:prstGeom prst="cloudCallout">
            <a:avLst>
              <a:gd name="adj1" fmla="val 17815"/>
              <a:gd name="adj2" fmla="val 8016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will you compute transitive closure of such pair of vertices ? Spend sufficient time…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F8C03-BDB5-34CC-0E05-A69A4420B170}"/>
              </a:ext>
            </a:extLst>
          </p:cNvPr>
          <p:cNvSpPr txBox="1"/>
          <p:nvPr/>
        </p:nvSpPr>
        <p:spPr>
          <a:xfrm>
            <a:off x="0" y="-13505"/>
            <a:ext cx="120885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Divide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573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4" grpId="0" animBg="1"/>
      <p:bldP spid="14" grpId="1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F35BB29-5819-15D7-B896-8F28543D6AB9}"/>
              </a:ext>
            </a:extLst>
          </p:cNvPr>
          <p:cNvSpPr/>
          <p:nvPr/>
        </p:nvSpPr>
        <p:spPr>
          <a:xfrm>
            <a:off x="2367890" y="4247032"/>
            <a:ext cx="3969306" cy="1824536"/>
          </a:xfrm>
          <a:prstGeom prst="arc">
            <a:avLst>
              <a:gd name="adj1" fmla="val 21545371"/>
              <a:gd name="adj2" fmla="val 108500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9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2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3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4964A-DA66-F9F4-62DE-5FA200DFBD85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6336011" y="5112634"/>
            <a:ext cx="1185" cy="1514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2D95DE-5C83-B4F2-85A8-E9EDF9DC3F34}"/>
                  </a:ext>
                </a:extLst>
              </p:cNvPr>
              <p:cNvSpPr txBox="1"/>
              <p:nvPr/>
            </p:nvSpPr>
            <p:spPr>
              <a:xfrm>
                <a:off x="3766800" y="6261395"/>
                <a:ext cx="11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2D95DE-5C83-B4F2-85A8-E9EDF9DC3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800" y="6261395"/>
                <a:ext cx="1153200" cy="400110"/>
              </a:xfrm>
              <a:prstGeom prst="rect">
                <a:avLst/>
              </a:prstGeom>
              <a:blipFill>
                <a:blip r:embed="rId1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91A83E-AAEE-8563-4CA0-5D4A02143B2D}"/>
                  </a:ext>
                </a:extLst>
              </p:cNvPr>
              <p:cNvSpPr txBox="1"/>
              <p:nvPr/>
            </p:nvSpPr>
            <p:spPr>
              <a:xfrm>
                <a:off x="2348388" y="2971800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91A83E-AAEE-8563-4CA0-5D4A0214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388" y="2971800"/>
                <a:ext cx="31861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1F5007-614C-61DF-46CB-853C71B91C20}"/>
                  </a:ext>
                </a:extLst>
              </p:cNvPr>
              <p:cNvSpPr txBox="1"/>
              <p:nvPr/>
            </p:nvSpPr>
            <p:spPr>
              <a:xfrm>
                <a:off x="2348388" y="1828800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1F5007-614C-61DF-46CB-853C71B91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388" y="1828800"/>
                <a:ext cx="31861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312D28-3435-BEBA-E8A9-26C08F0EEC58}"/>
                  </a:ext>
                </a:extLst>
              </p:cNvPr>
              <p:cNvSpPr txBox="1"/>
              <p:nvPr/>
            </p:nvSpPr>
            <p:spPr>
              <a:xfrm>
                <a:off x="4780503" y="487294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312D28-3435-BEBA-E8A9-26C08F0EE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503" y="487294"/>
                <a:ext cx="324897" cy="369332"/>
              </a:xfrm>
              <a:prstGeom prst="rect">
                <a:avLst/>
              </a:prstGeom>
              <a:blipFill>
                <a:blip r:embed="rId1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806F69-C029-F7BB-7F17-01A23F6ADE1E}"/>
              </a:ext>
            </a:extLst>
          </p:cNvPr>
          <p:cNvCxnSpPr>
            <a:cxnSpLocks/>
          </p:cNvCxnSpPr>
          <p:nvPr/>
        </p:nvCxnSpPr>
        <p:spPr>
          <a:xfrm>
            <a:off x="2592606" y="2020883"/>
            <a:ext cx="234838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E40108-7DE2-E4CA-AA9C-292E629FF138}"/>
              </a:ext>
            </a:extLst>
          </p:cNvPr>
          <p:cNvCxnSpPr>
            <a:cxnSpLocks/>
          </p:cNvCxnSpPr>
          <p:nvPr/>
        </p:nvCxnSpPr>
        <p:spPr>
          <a:xfrm flipV="1">
            <a:off x="4953000" y="760292"/>
            <a:ext cx="0" cy="12605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8DE55EBB-FF65-9D05-9CC5-5A0EF5DF5D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8DE55EBB-FF65-9D05-9CC5-5A0EF5DF5D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9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9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9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4" name="Table 53">
                <a:extLst>
                  <a:ext uri="{FF2B5EF4-FFF2-40B4-BE49-F238E27FC236}">
                    <a16:creationId xmlns:a16="http://schemas.microsoft.com/office/drawing/2014/main" id="{CF150D59-DA56-B0C2-F69A-5F32E295E5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4" name="Table 53">
                <a:extLst>
                  <a:ext uri="{FF2B5EF4-FFF2-40B4-BE49-F238E27FC236}">
                    <a16:creationId xmlns:a16="http://schemas.microsoft.com/office/drawing/2014/main" id="{CF150D59-DA56-B0C2-F69A-5F32E295E5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hought Bubble: Cloud 13">
                <a:extLst>
                  <a:ext uri="{FF2B5EF4-FFF2-40B4-BE49-F238E27FC236}">
                    <a16:creationId xmlns:a16="http://schemas.microsoft.com/office/drawing/2014/main" id="{7749E9CF-C021-3C15-71F0-FF1993C6956A}"/>
                  </a:ext>
                </a:extLst>
              </p:cNvPr>
              <p:cNvSpPr/>
              <p:nvPr/>
            </p:nvSpPr>
            <p:spPr>
              <a:xfrm>
                <a:off x="4458291" y="273571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take care of pair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joined by an edge ?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Spend sufficient time…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hought Bubble: Cloud 13">
                <a:extLst>
                  <a:ext uri="{FF2B5EF4-FFF2-40B4-BE49-F238E27FC236}">
                    <a16:creationId xmlns:a16="http://schemas.microsoft.com/office/drawing/2014/main" id="{7749E9CF-C021-3C15-71F0-FF1993C6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91" y="273571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DB739AA-6C8B-7457-0BB7-5A031BF3C529}"/>
              </a:ext>
            </a:extLst>
          </p:cNvPr>
          <p:cNvSpPr txBox="1"/>
          <p:nvPr/>
        </p:nvSpPr>
        <p:spPr>
          <a:xfrm>
            <a:off x="0" y="-13505"/>
            <a:ext cx="14252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Conquer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22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5" grpId="0"/>
      <p:bldP spid="22" grpId="0"/>
      <p:bldP spid="25" grpId="0"/>
      <p:bldP spid="26" grpId="0"/>
      <p:bldP spid="14" grpId="0" animBg="1"/>
      <p:bldP spid="14" grpId="1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F35BB29-5819-15D7-B896-8F28543D6AB9}"/>
              </a:ext>
            </a:extLst>
          </p:cNvPr>
          <p:cNvSpPr/>
          <p:nvPr/>
        </p:nvSpPr>
        <p:spPr>
          <a:xfrm>
            <a:off x="4034882" y="4266752"/>
            <a:ext cx="2302314" cy="1804816"/>
          </a:xfrm>
          <a:prstGeom prst="arc">
            <a:avLst>
              <a:gd name="adj1" fmla="val 21545371"/>
              <a:gd name="adj2" fmla="val 108500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/>
              <p:nvPr/>
            </p:nvSpPr>
            <p:spPr>
              <a:xfrm>
                <a:off x="3400512" y="6071568"/>
                <a:ext cx="1153200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512" y="6071568"/>
                <a:ext cx="1153200" cy="5132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10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3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4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4964A-DA66-F9F4-62DE-5FA200DFBD85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6335324" y="5112798"/>
            <a:ext cx="1636" cy="3807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838C56FF-4C22-E776-C286-2759D5F96696}"/>
              </a:ext>
            </a:extLst>
          </p:cNvPr>
          <p:cNvSpPr/>
          <p:nvPr/>
        </p:nvSpPr>
        <p:spPr>
          <a:xfrm>
            <a:off x="3891550" y="493957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/>
              <p:nvPr/>
            </p:nvSpPr>
            <p:spPr>
              <a:xfrm>
                <a:off x="3939159" y="518967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159" y="5189675"/>
                <a:ext cx="37093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/>
              <p:nvPr/>
            </p:nvSpPr>
            <p:spPr>
              <a:xfrm>
                <a:off x="3876000" y="6178992"/>
                <a:ext cx="11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000" y="6178992"/>
                <a:ext cx="1153200" cy="400110"/>
              </a:xfrm>
              <a:prstGeom prst="rect">
                <a:avLst/>
              </a:prstGeom>
              <a:blipFill>
                <a:blip r:embed="rId17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477000" y="1840468"/>
                <a:ext cx="768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sup>
                      </m:sSup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840468"/>
                <a:ext cx="76806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B711581-9A91-88C7-21E3-BF5BAE5E17DD}"/>
                  </a:ext>
                </a:extLst>
              </p:cNvPr>
              <p:cNvSpPr txBox="1"/>
              <p:nvPr/>
            </p:nvSpPr>
            <p:spPr>
              <a:xfrm>
                <a:off x="2402337" y="1485211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B711581-9A91-88C7-21E3-BF5BAE5E1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37" y="1485211"/>
                <a:ext cx="31861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D198F00-E3C8-180D-680D-B032973438C6}"/>
                  </a:ext>
                </a:extLst>
              </p:cNvPr>
              <p:cNvSpPr txBox="1"/>
              <p:nvPr/>
            </p:nvSpPr>
            <p:spPr>
              <a:xfrm>
                <a:off x="4780503" y="487294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D198F00-E3C8-180D-680D-B03297343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503" y="487294"/>
                <a:ext cx="324897" cy="369332"/>
              </a:xfrm>
              <a:prstGeom prst="rect">
                <a:avLst/>
              </a:prstGeom>
              <a:blipFill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D19FE99-DB7E-591D-A09F-3EFAE30F82E8}"/>
              </a:ext>
            </a:extLst>
          </p:cNvPr>
          <p:cNvCxnSpPr>
            <a:cxnSpLocks/>
          </p:cNvCxnSpPr>
          <p:nvPr/>
        </p:nvCxnSpPr>
        <p:spPr>
          <a:xfrm>
            <a:off x="2683143" y="1669877"/>
            <a:ext cx="133642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3C3D7AC-DA62-0666-C820-214F031A1171}"/>
              </a:ext>
            </a:extLst>
          </p:cNvPr>
          <p:cNvCxnSpPr>
            <a:cxnSpLocks/>
          </p:cNvCxnSpPr>
          <p:nvPr/>
        </p:nvCxnSpPr>
        <p:spPr>
          <a:xfrm flipV="1">
            <a:off x="4901453" y="819417"/>
            <a:ext cx="0" cy="139038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E29C35-35E2-01DF-B3DF-0821F679C18C}"/>
              </a:ext>
            </a:extLst>
          </p:cNvPr>
          <p:cNvCxnSpPr>
            <a:cxnSpLocks/>
          </p:cNvCxnSpPr>
          <p:nvPr/>
        </p:nvCxnSpPr>
        <p:spPr>
          <a:xfrm flipV="1">
            <a:off x="4038600" y="804451"/>
            <a:ext cx="0" cy="8205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732552-B025-9FCD-9141-D7B73145FE0D}"/>
                  </a:ext>
                </a:extLst>
              </p:cNvPr>
              <p:cNvSpPr txBox="1"/>
              <p:nvPr/>
            </p:nvSpPr>
            <p:spPr>
              <a:xfrm>
                <a:off x="3891550" y="46232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5732552-B025-9FCD-9141-D7B73145F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550" y="462327"/>
                <a:ext cx="37093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21A8B7-5FC4-C9B7-C833-DE46D950C0A9}"/>
                  </a:ext>
                </a:extLst>
              </p:cNvPr>
              <p:cNvSpPr txBox="1"/>
              <p:nvPr/>
            </p:nvSpPr>
            <p:spPr>
              <a:xfrm>
                <a:off x="2370837" y="2013039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E21A8B7-5FC4-C9B7-C833-DE46D950C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837" y="2013039"/>
                <a:ext cx="370934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8260AB6-138B-20D4-5555-1F8540F05F71}"/>
              </a:ext>
            </a:extLst>
          </p:cNvPr>
          <p:cNvCxnSpPr>
            <a:cxnSpLocks/>
          </p:cNvCxnSpPr>
          <p:nvPr/>
        </p:nvCxnSpPr>
        <p:spPr>
          <a:xfrm>
            <a:off x="2609239" y="2209800"/>
            <a:ext cx="226756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8" name="Table 77">
                <a:extLst>
                  <a:ext uri="{FF2B5EF4-FFF2-40B4-BE49-F238E27FC236}">
                    <a16:creationId xmlns:a16="http://schemas.microsoft.com/office/drawing/2014/main" id="{3A0B35A0-2242-F41D-2F3E-500B5AFF53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8" name="Table 77">
                <a:extLst>
                  <a:ext uri="{FF2B5EF4-FFF2-40B4-BE49-F238E27FC236}">
                    <a16:creationId xmlns:a16="http://schemas.microsoft.com/office/drawing/2014/main" id="{3A0B35A0-2242-F41D-2F3E-500B5AFF53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47ECFFC2-96AE-EA17-11D9-D30AF1061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47ECFFC2-96AE-EA17-11D9-D30AF10616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F3040F8-7507-DCA3-53E9-B89D8ACD7D47}"/>
              </a:ext>
            </a:extLst>
          </p:cNvPr>
          <p:cNvSpPr txBox="1"/>
          <p:nvPr/>
        </p:nvSpPr>
        <p:spPr>
          <a:xfrm>
            <a:off x="0" y="-13505"/>
            <a:ext cx="14252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Conquer Part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hought Bubble: Cloud 16">
                <a:extLst>
                  <a:ext uri="{FF2B5EF4-FFF2-40B4-BE49-F238E27FC236}">
                    <a16:creationId xmlns:a16="http://schemas.microsoft.com/office/drawing/2014/main" id="{165F81C1-29BD-5D5F-08A0-A153917CCE19}"/>
                  </a:ext>
                </a:extLst>
              </p:cNvPr>
              <p:cNvSpPr/>
              <p:nvPr/>
            </p:nvSpPr>
            <p:spPr>
              <a:xfrm>
                <a:off x="4458291" y="273571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take care of pair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with path like this ? Spend sufficient time…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hought Bubble: Cloud 16">
                <a:extLst>
                  <a:ext uri="{FF2B5EF4-FFF2-40B4-BE49-F238E27FC236}">
                    <a16:creationId xmlns:a16="http://schemas.microsoft.com/office/drawing/2014/main" id="{165F81C1-29BD-5D5F-08A0-A153917CCE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91" y="273571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8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5" grpId="0"/>
      <p:bldP spid="52" grpId="0" animBg="1"/>
      <p:bldP spid="53" grpId="0"/>
      <p:bldP spid="54" grpId="0"/>
      <p:bldP spid="55" grpId="0"/>
      <p:bldP spid="56" grpId="0"/>
      <p:bldP spid="57" grpId="0"/>
      <p:bldP spid="68" grpId="0"/>
      <p:bldP spid="70" grpId="0"/>
      <p:bldP spid="17" grpId="0" animBg="1"/>
      <p:bldP spid="1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F35BB29-5819-15D7-B896-8F28543D6AB9}"/>
              </a:ext>
            </a:extLst>
          </p:cNvPr>
          <p:cNvSpPr/>
          <p:nvPr/>
        </p:nvSpPr>
        <p:spPr>
          <a:xfrm>
            <a:off x="2345886" y="4266752"/>
            <a:ext cx="2302314" cy="1804816"/>
          </a:xfrm>
          <a:prstGeom prst="arc">
            <a:avLst>
              <a:gd name="adj1" fmla="val 21545371"/>
              <a:gd name="adj2" fmla="val 108500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/>
              <p:nvPr/>
            </p:nvSpPr>
            <p:spPr>
              <a:xfrm>
                <a:off x="4572000" y="6102937"/>
                <a:ext cx="1153200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6102937"/>
                <a:ext cx="1153200" cy="5132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10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3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4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4964A-DA66-F9F4-62DE-5FA200DFBD85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4646328" y="5112798"/>
            <a:ext cx="1636" cy="3807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838C56FF-4C22-E776-C286-2759D5F96696}"/>
              </a:ext>
            </a:extLst>
          </p:cNvPr>
          <p:cNvSpPr/>
          <p:nvPr/>
        </p:nvSpPr>
        <p:spPr>
          <a:xfrm>
            <a:off x="4458256" y="493957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/>
              <p:nvPr/>
            </p:nvSpPr>
            <p:spPr>
              <a:xfrm>
                <a:off x="4505865" y="518967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65" y="5189675"/>
                <a:ext cx="37093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/>
              <p:nvPr/>
            </p:nvSpPr>
            <p:spPr>
              <a:xfrm>
                <a:off x="3777568" y="6178992"/>
                <a:ext cx="11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568" y="6178992"/>
                <a:ext cx="1153200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470936" y="1840468"/>
                <a:ext cx="768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sup>
                      </m:sSup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936" y="1840468"/>
                <a:ext cx="76806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/>
              <p:nvPr/>
            </p:nvSpPr>
            <p:spPr>
              <a:xfrm>
                <a:off x="6565813" y="2195036"/>
                <a:ext cx="768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813" y="2195036"/>
                <a:ext cx="76806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4FDACC3-A385-3FAC-B8E7-5AAAFBD7B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D4FDACC3-A385-3FAC-B8E7-5AAAFBD7B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36EEFB-E271-F3B3-9B58-6619F63FA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C36EEFB-E271-F3B3-9B58-6619F63FA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1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1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1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F69C0F-1DA5-9505-B5FB-D6FFDF0E4C37}"/>
                  </a:ext>
                </a:extLst>
              </p:cNvPr>
              <p:cNvSpPr txBox="1"/>
              <p:nvPr/>
            </p:nvSpPr>
            <p:spPr>
              <a:xfrm>
                <a:off x="2402337" y="1485211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F69C0F-1DA5-9505-B5FB-D6FFDF0E4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337" y="1485211"/>
                <a:ext cx="31861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71DA0E-82F1-A0E8-3F7F-703A05F2FA4A}"/>
                  </a:ext>
                </a:extLst>
              </p:cNvPr>
              <p:cNvSpPr txBox="1"/>
              <p:nvPr/>
            </p:nvSpPr>
            <p:spPr>
              <a:xfrm>
                <a:off x="5085303" y="487294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71DA0E-82F1-A0E8-3F7F-703A05F2F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303" y="487294"/>
                <a:ext cx="324897" cy="369332"/>
              </a:xfrm>
              <a:prstGeom prst="rect">
                <a:avLst/>
              </a:prstGeom>
              <a:blipFill>
                <a:blip r:embed="rId2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D37DD2-E6CD-6D57-0A5E-60585A7F1446}"/>
              </a:ext>
            </a:extLst>
          </p:cNvPr>
          <p:cNvCxnSpPr>
            <a:cxnSpLocks/>
          </p:cNvCxnSpPr>
          <p:nvPr/>
        </p:nvCxnSpPr>
        <p:spPr>
          <a:xfrm>
            <a:off x="2683143" y="1669877"/>
            <a:ext cx="217536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0B118C-2E51-5F28-289B-2D14B2FCDC75}"/>
              </a:ext>
            </a:extLst>
          </p:cNvPr>
          <p:cNvCxnSpPr>
            <a:cxnSpLocks/>
          </p:cNvCxnSpPr>
          <p:nvPr/>
        </p:nvCxnSpPr>
        <p:spPr>
          <a:xfrm flipV="1">
            <a:off x="5181600" y="762000"/>
            <a:ext cx="0" cy="21754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C79893-9AFD-4025-4F68-96082F675CD3}"/>
              </a:ext>
            </a:extLst>
          </p:cNvPr>
          <p:cNvCxnSpPr>
            <a:cxnSpLocks/>
          </p:cNvCxnSpPr>
          <p:nvPr/>
        </p:nvCxnSpPr>
        <p:spPr>
          <a:xfrm flipV="1">
            <a:off x="4858512" y="707291"/>
            <a:ext cx="0" cy="96258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5BA557-5D65-7F66-D27A-5A8B41120BCA}"/>
                  </a:ext>
                </a:extLst>
              </p:cNvPr>
              <p:cNvSpPr txBox="1"/>
              <p:nvPr/>
            </p:nvSpPr>
            <p:spPr>
              <a:xfrm>
                <a:off x="4648200" y="462327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15BA557-5D65-7F66-D27A-5A8B41120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462327"/>
                <a:ext cx="370934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5C4816-5EAF-934E-1B1E-F826A34095A4}"/>
                  </a:ext>
                </a:extLst>
              </p:cNvPr>
              <p:cNvSpPr txBox="1"/>
              <p:nvPr/>
            </p:nvSpPr>
            <p:spPr>
              <a:xfrm>
                <a:off x="2370837" y="2819400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5C4816-5EAF-934E-1B1E-F826A3409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837" y="2819400"/>
                <a:ext cx="370934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2125AC6-0FDA-5EA7-703C-29D174A409AC}"/>
              </a:ext>
            </a:extLst>
          </p:cNvPr>
          <p:cNvCxnSpPr>
            <a:cxnSpLocks/>
          </p:cNvCxnSpPr>
          <p:nvPr/>
        </p:nvCxnSpPr>
        <p:spPr>
          <a:xfrm>
            <a:off x="2683143" y="2981682"/>
            <a:ext cx="24984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hought Bubble: Cloud 13">
                <a:extLst>
                  <a:ext uri="{FF2B5EF4-FFF2-40B4-BE49-F238E27FC236}">
                    <a16:creationId xmlns:a16="http://schemas.microsoft.com/office/drawing/2014/main" id="{255A0542-5872-4F32-1F2B-7FF837A16BFF}"/>
                  </a:ext>
                </a:extLst>
              </p:cNvPr>
              <p:cNvSpPr/>
              <p:nvPr/>
            </p:nvSpPr>
            <p:spPr>
              <a:xfrm>
                <a:off x="4480881" y="2921945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take care of pair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with path like this ? Spend sufficient time…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hought Bubble: Cloud 13">
                <a:extLst>
                  <a:ext uri="{FF2B5EF4-FFF2-40B4-BE49-F238E27FC236}">
                    <a16:creationId xmlns:a16="http://schemas.microsoft.com/office/drawing/2014/main" id="{255A0542-5872-4F32-1F2B-7FF837A16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81" y="2921945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59C8D6B-3ECB-66EC-6FB5-56931C8FD458}"/>
              </a:ext>
            </a:extLst>
          </p:cNvPr>
          <p:cNvSpPr txBox="1"/>
          <p:nvPr/>
        </p:nvSpPr>
        <p:spPr>
          <a:xfrm>
            <a:off x="0" y="-13505"/>
            <a:ext cx="14252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Conquer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71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5" grpId="0"/>
      <p:bldP spid="54" grpId="0"/>
      <p:bldP spid="22" grpId="0"/>
      <p:bldP spid="25" grpId="0"/>
      <p:bldP spid="26" grpId="0"/>
      <p:bldP spid="44" grpId="0"/>
      <p:bldP spid="46" grpId="0"/>
      <p:bldP spid="14" grpId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F35BB29-5819-15D7-B896-8F28543D6AB9}"/>
              </a:ext>
            </a:extLst>
          </p:cNvPr>
          <p:cNvSpPr/>
          <p:nvPr/>
        </p:nvSpPr>
        <p:spPr>
          <a:xfrm>
            <a:off x="4076151" y="4770721"/>
            <a:ext cx="569478" cy="751368"/>
          </a:xfrm>
          <a:prstGeom prst="arc">
            <a:avLst>
              <a:gd name="adj1" fmla="val 21545371"/>
              <a:gd name="adj2" fmla="val 108500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/>
              <p:nvPr/>
            </p:nvSpPr>
            <p:spPr>
              <a:xfrm>
                <a:off x="4572000" y="5909863"/>
                <a:ext cx="1153200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909863"/>
                <a:ext cx="1153200" cy="5132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10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3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4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4964A-DA66-F9F4-62DE-5FA200DFBD85}"/>
              </a:ext>
            </a:extLst>
          </p:cNvPr>
          <p:cNvCxnSpPr>
            <a:cxnSpLocks/>
          </p:cNvCxnSpPr>
          <p:nvPr/>
        </p:nvCxnSpPr>
        <p:spPr>
          <a:xfrm flipV="1">
            <a:off x="4631776" y="5105400"/>
            <a:ext cx="16424" cy="8201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838C56FF-4C22-E776-C286-2759D5F96696}"/>
              </a:ext>
            </a:extLst>
          </p:cNvPr>
          <p:cNvSpPr/>
          <p:nvPr/>
        </p:nvSpPr>
        <p:spPr>
          <a:xfrm>
            <a:off x="4458256" y="493957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/>
              <p:nvPr/>
            </p:nvSpPr>
            <p:spPr>
              <a:xfrm>
                <a:off x="4495800" y="518967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189675"/>
                <a:ext cx="37093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/>
              <p:nvPr/>
            </p:nvSpPr>
            <p:spPr>
              <a:xfrm>
                <a:off x="3784290" y="5984291"/>
                <a:ext cx="11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290" y="5984291"/>
                <a:ext cx="1153200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579351" y="1840468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1" y="1840468"/>
                <a:ext cx="768064" cy="37965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/>
              <p:nvPr/>
            </p:nvSpPr>
            <p:spPr>
              <a:xfrm>
                <a:off x="6565813" y="2195036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813" y="2195036"/>
                <a:ext cx="768064" cy="3796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09118513-7096-5F5F-2CB7-B739565D4838}"/>
              </a:ext>
            </a:extLst>
          </p:cNvPr>
          <p:cNvSpPr/>
          <p:nvPr/>
        </p:nvSpPr>
        <p:spPr>
          <a:xfrm>
            <a:off x="3886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47A104-A585-0035-5296-CB538A1744B5}"/>
                  </a:ext>
                </a:extLst>
              </p:cNvPr>
              <p:cNvSpPr txBox="1"/>
              <p:nvPr/>
            </p:nvSpPr>
            <p:spPr>
              <a:xfrm>
                <a:off x="3895480" y="5193268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47A104-A585-0035-5296-CB538A174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480" y="5193268"/>
                <a:ext cx="368627" cy="369332"/>
              </a:xfrm>
              <a:prstGeom prst="rect">
                <a:avLst/>
              </a:prstGeom>
              <a:blipFill>
                <a:blip r:embed="rId2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1C2FF3-D129-E772-D8B5-C2EFEE7941C9}"/>
                  </a:ext>
                </a:extLst>
              </p:cNvPr>
              <p:cNvSpPr txBox="1"/>
              <p:nvPr/>
            </p:nvSpPr>
            <p:spPr>
              <a:xfrm>
                <a:off x="3286501" y="5870411"/>
                <a:ext cx="1153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2000" dirty="0"/>
                  <a:t> </a:t>
                </a:r>
                <a:endParaRPr lang="en-IN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1C2FF3-D129-E772-D8B5-C2EFEE794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501" y="5870411"/>
                <a:ext cx="115320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A071B739-D3F0-B505-F411-B4E991D33E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A071B739-D3F0-B505-F411-B4E991D33E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39B2A859-E2D5-E719-510B-8434DD1CE3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39B2A859-E2D5-E719-510B-8434DD1CE3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F875598-C74E-82F1-9A63-2FD8807716C3}"/>
              </a:ext>
            </a:extLst>
          </p:cNvPr>
          <p:cNvSpPr txBox="1"/>
          <p:nvPr/>
        </p:nvSpPr>
        <p:spPr>
          <a:xfrm>
            <a:off x="1870984" y="6440353"/>
            <a:ext cx="4373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Advice</a:t>
            </a:r>
            <a:r>
              <a:rPr lang="en-US" dirty="0">
                <a:solidFill>
                  <a:srgbClr val="7030A0"/>
                </a:solidFill>
              </a:rPr>
              <a:t>: </a:t>
            </a:r>
            <a:r>
              <a:rPr lang="en-US" dirty="0"/>
              <a:t>Ponder over it before moving ahead.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hought Bubble: Cloud 16">
                <a:extLst>
                  <a:ext uri="{FF2B5EF4-FFF2-40B4-BE49-F238E27FC236}">
                    <a16:creationId xmlns:a16="http://schemas.microsoft.com/office/drawing/2014/main" id="{CF0C5F7F-6EB7-B9F8-4CEF-11D2B6C8F8F6}"/>
                  </a:ext>
                </a:extLst>
              </p:cNvPr>
              <p:cNvSpPr/>
              <p:nvPr/>
            </p:nvSpPr>
            <p:spPr>
              <a:xfrm>
                <a:off x="4398565" y="309933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take care of pair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with path like this ? Spend sufficient time…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hought Bubble: Cloud 16">
                <a:extLst>
                  <a:ext uri="{FF2B5EF4-FFF2-40B4-BE49-F238E27FC236}">
                    <a16:creationId xmlns:a16="http://schemas.microsoft.com/office/drawing/2014/main" id="{CF0C5F7F-6EB7-B9F8-4CEF-11D2B6C8F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65" y="3099338"/>
                <a:ext cx="5126435" cy="1056493"/>
              </a:xfrm>
              <a:prstGeom prst="cloudCallout">
                <a:avLst>
                  <a:gd name="adj1" fmla="val 17815"/>
                  <a:gd name="adj2" fmla="val 80163"/>
                </a:avLst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A4DEED4-A6DC-DD77-A4EB-8DACDB2A0A7C}"/>
              </a:ext>
            </a:extLst>
          </p:cNvPr>
          <p:cNvSpPr txBox="1"/>
          <p:nvPr/>
        </p:nvSpPr>
        <p:spPr>
          <a:xfrm>
            <a:off x="0" y="-13505"/>
            <a:ext cx="14252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Conquer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33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5" grpId="0"/>
      <p:bldP spid="54" grpId="0"/>
      <p:bldP spid="43" grpId="0" animBg="1"/>
      <p:bldP spid="44" grpId="0"/>
      <p:bldP spid="46" grpId="0"/>
      <p:bldP spid="14" grpId="0"/>
      <p:bldP spid="17" grpId="0" animBg="1"/>
      <p:bldP spid="1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AF35BB29-5819-15D7-B896-8F28543D6AB9}"/>
              </a:ext>
            </a:extLst>
          </p:cNvPr>
          <p:cNvSpPr/>
          <p:nvPr/>
        </p:nvSpPr>
        <p:spPr>
          <a:xfrm>
            <a:off x="4076151" y="4770721"/>
            <a:ext cx="569478" cy="751368"/>
          </a:xfrm>
          <a:prstGeom prst="arc">
            <a:avLst>
              <a:gd name="adj1" fmla="val 21545371"/>
              <a:gd name="adj2" fmla="val 108500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/>
              <p:nvPr/>
            </p:nvSpPr>
            <p:spPr>
              <a:xfrm>
                <a:off x="4572000" y="5909863"/>
                <a:ext cx="1153200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8869A9E-0CEA-2887-DAF7-0B9A1D37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909863"/>
                <a:ext cx="1153200" cy="5132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10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3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4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4964A-DA66-F9F4-62DE-5FA200DFBD85}"/>
              </a:ext>
            </a:extLst>
          </p:cNvPr>
          <p:cNvCxnSpPr>
            <a:cxnSpLocks/>
          </p:cNvCxnSpPr>
          <p:nvPr/>
        </p:nvCxnSpPr>
        <p:spPr>
          <a:xfrm flipV="1">
            <a:off x="4631776" y="5105400"/>
            <a:ext cx="16424" cy="8201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0" y="1440318"/>
                <a:ext cx="65964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838C56FF-4C22-E776-C286-2759D5F96696}"/>
              </a:ext>
            </a:extLst>
          </p:cNvPr>
          <p:cNvSpPr/>
          <p:nvPr/>
        </p:nvSpPr>
        <p:spPr>
          <a:xfrm>
            <a:off x="4458256" y="493957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/>
              <p:nvPr/>
            </p:nvSpPr>
            <p:spPr>
              <a:xfrm>
                <a:off x="4495800" y="518967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1EB68C-EB7C-1B37-DF5B-0F275D94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189675"/>
                <a:ext cx="37093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/>
              <p:nvPr/>
            </p:nvSpPr>
            <p:spPr>
              <a:xfrm>
                <a:off x="3784290" y="5984291"/>
                <a:ext cx="11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3378C2-BB03-DDCE-6EED-3BB770CE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290" y="5984291"/>
                <a:ext cx="1153200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579351" y="1840468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51" y="1840468"/>
                <a:ext cx="768064" cy="37965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/>
              <p:nvPr/>
            </p:nvSpPr>
            <p:spPr>
              <a:xfrm>
                <a:off x="6565813" y="2195036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813" y="2195036"/>
                <a:ext cx="768064" cy="3796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/>
              <p:nvPr/>
            </p:nvSpPr>
            <p:spPr>
              <a:xfrm>
                <a:off x="6553200" y="2590800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590800"/>
                <a:ext cx="768064" cy="379656"/>
              </a:xfrm>
              <a:prstGeom prst="rect">
                <a:avLst/>
              </a:prstGeom>
              <a:blipFill>
                <a:blip r:embed="rId20"/>
                <a:stretch>
                  <a:fillRect r="-39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09118513-7096-5F5F-2CB7-B739565D4838}"/>
              </a:ext>
            </a:extLst>
          </p:cNvPr>
          <p:cNvSpPr/>
          <p:nvPr/>
        </p:nvSpPr>
        <p:spPr>
          <a:xfrm>
            <a:off x="3886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47A104-A585-0035-5296-CB538A1744B5}"/>
                  </a:ext>
                </a:extLst>
              </p:cNvPr>
              <p:cNvSpPr txBox="1"/>
              <p:nvPr/>
            </p:nvSpPr>
            <p:spPr>
              <a:xfrm>
                <a:off x="3895480" y="5193268"/>
                <a:ext cx="368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47A104-A585-0035-5296-CB538A174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480" y="5193268"/>
                <a:ext cx="368627" cy="369332"/>
              </a:xfrm>
              <a:prstGeom prst="rect">
                <a:avLst/>
              </a:prstGeom>
              <a:blipFill>
                <a:blip r:embed="rId2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1C2FF3-D129-E772-D8B5-C2EFEE7941C9}"/>
                  </a:ext>
                </a:extLst>
              </p:cNvPr>
              <p:cNvSpPr txBox="1"/>
              <p:nvPr/>
            </p:nvSpPr>
            <p:spPr>
              <a:xfrm>
                <a:off x="3286501" y="5870411"/>
                <a:ext cx="1153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2000" dirty="0"/>
                  <a:t> </a:t>
                </a:r>
                <a:endParaRPr lang="en-IN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1C2FF3-D129-E772-D8B5-C2EFEE794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501" y="5870411"/>
                <a:ext cx="115320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A071B739-D3F0-B505-F411-B4E991D33E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>
                <a:extLst>
                  <a:ext uri="{FF2B5EF4-FFF2-40B4-BE49-F238E27FC236}">
                    <a16:creationId xmlns:a16="http://schemas.microsoft.com/office/drawing/2014/main" id="{A071B739-D3F0-B505-F411-B4E991D33E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39B2A859-E2D5-E719-510B-8434DD1CE3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39B2A859-E2D5-E719-510B-8434DD1CE3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4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419AD6B-4B72-DF59-6431-9942AE448A9E}"/>
              </a:ext>
            </a:extLst>
          </p:cNvPr>
          <p:cNvSpPr txBox="1"/>
          <p:nvPr/>
        </p:nvSpPr>
        <p:spPr>
          <a:xfrm>
            <a:off x="0" y="-13505"/>
            <a:ext cx="142526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Conquer Part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DB1A1-881E-353D-5809-CF33678E1B83}"/>
              </a:ext>
            </a:extLst>
          </p:cNvPr>
          <p:cNvSpPr txBox="1"/>
          <p:nvPr/>
        </p:nvSpPr>
        <p:spPr>
          <a:xfrm>
            <a:off x="1167630" y="6470422"/>
            <a:ext cx="652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Advice</a:t>
            </a:r>
            <a:r>
              <a:rPr lang="en-US" dirty="0"/>
              <a:t>: Spend sufficient time to find the time for the conquer part.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20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9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2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3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045951" y="1446807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51" y="1446807"/>
                <a:ext cx="65964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629291" y="1446380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291" y="1446380"/>
                <a:ext cx="768064" cy="3796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/>
              <p:nvPr/>
            </p:nvSpPr>
            <p:spPr>
              <a:xfrm>
                <a:off x="7464459" y="1446380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59" y="1446380"/>
                <a:ext cx="768064" cy="37965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/>
              <p:nvPr/>
            </p:nvSpPr>
            <p:spPr>
              <a:xfrm>
                <a:off x="8299627" y="1447715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627" y="1447715"/>
                <a:ext cx="768064" cy="379656"/>
              </a:xfrm>
              <a:prstGeom prst="rect">
                <a:avLst/>
              </a:prstGeom>
              <a:blipFill>
                <a:blip r:embed="rId1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F341EC-B165-A334-72B3-5D33028B71CF}"/>
                  </a:ext>
                </a:extLst>
              </p:cNvPr>
              <p:cNvSpPr txBox="1"/>
              <p:nvPr/>
            </p:nvSpPr>
            <p:spPr>
              <a:xfrm>
                <a:off x="6294911" y="1431058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F341EC-B165-A334-72B3-5D33028B7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911" y="1431058"/>
                <a:ext cx="41068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3C2719-000F-F65A-DE75-C88D3261ADD2}"/>
                  </a:ext>
                </a:extLst>
              </p:cNvPr>
              <p:cNvSpPr txBox="1"/>
              <p:nvPr/>
            </p:nvSpPr>
            <p:spPr>
              <a:xfrm>
                <a:off x="7142070" y="1446380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3C2719-000F-F65A-DE75-C88D3261A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070" y="1446380"/>
                <a:ext cx="41068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F197C3-C6C1-6C21-4C6D-C867F9E02947}"/>
                  </a:ext>
                </a:extLst>
              </p:cNvPr>
              <p:cNvSpPr txBox="1"/>
              <p:nvPr/>
            </p:nvSpPr>
            <p:spPr>
              <a:xfrm>
                <a:off x="7980695" y="1443518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F197C3-C6C1-6C21-4C6D-C867F9E02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695" y="1443518"/>
                <a:ext cx="41068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61AC1-19EE-485E-1022-369A078FB510}"/>
                  </a:ext>
                </a:extLst>
              </p:cNvPr>
              <p:cNvSpPr txBox="1"/>
              <p:nvPr/>
            </p:nvSpPr>
            <p:spPr>
              <a:xfrm>
                <a:off x="6015593" y="2197705"/>
                <a:ext cx="1118919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61AC1-19EE-485E-1022-369A078F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593" y="2197705"/>
                <a:ext cx="1118919" cy="379656"/>
              </a:xfrm>
              <a:prstGeom prst="rect">
                <a:avLst/>
              </a:prstGeom>
              <a:blipFill>
                <a:blip r:embed="rId21"/>
                <a:stretch>
                  <a:fillRect l="-1639" r="-2732" b="-9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61583EB-2152-60B9-F01B-47DFBF497AEF}"/>
                  </a:ext>
                </a:extLst>
              </p:cNvPr>
              <p:cNvSpPr txBox="1"/>
              <p:nvPr/>
            </p:nvSpPr>
            <p:spPr>
              <a:xfrm>
                <a:off x="7467600" y="219503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61583EB-2152-60B9-F01B-47DFBF497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195036"/>
                <a:ext cx="1676400" cy="369332"/>
              </a:xfrm>
              <a:prstGeom prst="rect">
                <a:avLst/>
              </a:prstGeom>
              <a:blipFill>
                <a:blip r:embed="rId22"/>
                <a:stretch>
                  <a:fillRect l="-1091"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D92686-B433-F180-673E-5789479F84D7}"/>
                  </a:ext>
                </a:extLst>
              </p:cNvPr>
              <p:cNvSpPr txBox="1"/>
              <p:nvPr/>
            </p:nvSpPr>
            <p:spPr>
              <a:xfrm>
                <a:off x="7137497" y="2177107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D92686-B433-F180-673E-5789479F8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97" y="2177107"/>
                <a:ext cx="41068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9D9166-6658-5248-D225-E22008AC54A8}"/>
                  </a:ext>
                </a:extLst>
              </p:cNvPr>
              <p:cNvSpPr txBox="1"/>
              <p:nvPr/>
            </p:nvSpPr>
            <p:spPr>
              <a:xfrm>
                <a:off x="6294911" y="2880751"/>
                <a:ext cx="207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9D9166-6658-5248-D225-E22008AC5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911" y="2880751"/>
                <a:ext cx="2078336" cy="369332"/>
              </a:xfrm>
              <a:prstGeom prst="rect">
                <a:avLst/>
              </a:prstGeom>
              <a:blipFill>
                <a:blip r:embed="rId24"/>
                <a:stretch>
                  <a:fillRect l="-880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CD51269E-1ECD-8EF5-3DCF-E3D7F8D629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CD51269E-1ECD-8EF5-3DCF-E3D7F8D629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6B2BAE1A-2E6A-F9F7-AF8C-3BFA94E34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6B2BAE1A-2E6A-F9F7-AF8C-3BFA94E34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4C7DD2-76D9-E9A6-5659-72B5AFDFFB76}"/>
                  </a:ext>
                </a:extLst>
              </p:cNvPr>
              <p:cNvSpPr txBox="1"/>
              <p:nvPr/>
            </p:nvSpPr>
            <p:spPr>
              <a:xfrm>
                <a:off x="44254" y="3708164"/>
                <a:ext cx="3264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4C7DD2-76D9-E9A6-5659-72B5AFDFF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4" y="3708164"/>
                <a:ext cx="3264292" cy="369332"/>
              </a:xfrm>
              <a:prstGeom prst="rect">
                <a:avLst/>
              </a:prstGeom>
              <a:blipFill>
                <a:blip r:embed="rId27"/>
                <a:stretch>
                  <a:fillRect l="-11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712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0" grpId="0"/>
      <p:bldP spid="47" grpId="0"/>
      <p:bldP spid="50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C7400-1A41-C94D-AECB-C9CA03955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sp>
        <p:nvSpPr>
          <p:cNvPr id="18" name="Flowchart: Extract 15">
            <a:extLst>
              <a:ext uri="{FF2B5EF4-FFF2-40B4-BE49-F238E27FC236}">
                <a16:creationId xmlns:a16="http://schemas.microsoft.com/office/drawing/2014/main" id="{BAEEC96E-3E63-4BAB-0B20-D9CBDB393864}"/>
              </a:ext>
            </a:extLst>
          </p:cNvPr>
          <p:cNvSpPr/>
          <p:nvPr/>
        </p:nvSpPr>
        <p:spPr>
          <a:xfrm rot="10800000">
            <a:off x="3273616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16" name="Flowchart: Extract 15">
            <a:extLst>
              <a:ext uri="{FF2B5EF4-FFF2-40B4-BE49-F238E27FC236}">
                <a16:creationId xmlns:a16="http://schemas.microsoft.com/office/drawing/2014/main" id="{D069CA9E-F835-4221-2BD3-15177382008A}"/>
              </a:ext>
            </a:extLst>
          </p:cNvPr>
          <p:cNvSpPr/>
          <p:nvPr/>
        </p:nvSpPr>
        <p:spPr>
          <a:xfrm>
            <a:off x="3276600" y="1459468"/>
            <a:ext cx="2209800" cy="2209800"/>
          </a:xfrm>
          <a:custGeom>
            <a:avLst/>
            <a:gdLst>
              <a:gd name="connsiteX0" fmla="*/ 0 w 10000"/>
              <a:gd name="connsiteY0" fmla="*/ 10000 h 10000"/>
              <a:gd name="connsiteX1" fmla="*/ 5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0" fmla="*/ 0 w 10000"/>
              <a:gd name="connsiteY0" fmla="*/ 10093 h 10093"/>
              <a:gd name="connsiteX1" fmla="*/ 25 w 10000"/>
              <a:gd name="connsiteY1" fmla="*/ 0 h 10093"/>
              <a:gd name="connsiteX2" fmla="*/ 10000 w 10000"/>
              <a:gd name="connsiteY2" fmla="*/ 10093 h 10093"/>
              <a:gd name="connsiteX3" fmla="*/ 0 w 10000"/>
              <a:gd name="connsiteY3" fmla="*/ 10093 h 1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93">
                <a:moveTo>
                  <a:pt x="0" y="10093"/>
                </a:moveTo>
                <a:cubicBezTo>
                  <a:pt x="8" y="6729"/>
                  <a:pt x="17" y="3364"/>
                  <a:pt x="25" y="0"/>
                </a:cubicBezTo>
                <a:lnTo>
                  <a:pt x="10000" y="10093"/>
                </a:lnTo>
                <a:lnTo>
                  <a:pt x="0" y="1009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</a:rPr>
              <a:t>    </a:t>
            </a:r>
            <a:r>
              <a:rPr lang="en-US" sz="4800" dirty="0">
                <a:solidFill>
                  <a:srgbClr val="C00000"/>
                </a:solidFill>
              </a:rPr>
              <a:t>0</a:t>
            </a:r>
            <a:endParaRPr lang="en-IN" sz="36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Content Placeholder 3">
                <a:extLst>
                  <a:ext uri="{FF2B5EF4-FFF2-40B4-BE49-F238E27FC236}">
                    <a16:creationId xmlns:a16="http://schemas.microsoft.com/office/drawing/2014/main" id="{966977B3-4ECB-31C1-735F-04AE523A0F0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276600" y="1459468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639" r="-500000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639" r="-408333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639" r="-30163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639" r="-206667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639" r="-103279" b="-4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639" r="-5000" b="-4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103333" r="-500000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103333" r="-408333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3333" r="-30163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103333" r="-206667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103333" r="-103279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103333" r="-5000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200000" r="-5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200000" r="-408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0000" r="-3016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200000" r="-206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200000" r="-10327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200000" r="-5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05000" r="-50000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05000" r="-408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5000" r="-30163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05000" r="-206667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05000" r="-103279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05000" r="-5000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398361" r="-5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398361" r="-40833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98361" r="-30163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398361" r="-206667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398361" r="-103279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398361" r="-5000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9" t="-506667" r="-50000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3333" t="-506667" r="-408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6667" r="-3016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5000" t="-506667" r="-20666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61" t="-506667" r="-10327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6667" t="-506667" r="-5000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032B875-65EA-9F83-9E66-4A8FC79A47DD}"/>
              </a:ext>
            </a:extLst>
          </p:cNvPr>
          <p:cNvGrpSpPr/>
          <p:nvPr/>
        </p:nvGrpSpPr>
        <p:grpSpPr>
          <a:xfrm>
            <a:off x="3276600" y="1479639"/>
            <a:ext cx="1066800" cy="1066800"/>
            <a:chOff x="1143000" y="5295900"/>
            <a:chExt cx="1066800" cy="1066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E7041-7CE2-96E2-7BED-11DEEA8EF1CF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" name="Flowchart: Extract 15">
              <a:extLst>
                <a:ext uri="{FF2B5EF4-FFF2-40B4-BE49-F238E27FC236}">
                  <a16:creationId xmlns:a16="http://schemas.microsoft.com/office/drawing/2014/main" id="{9D1BA2B9-ADDD-12CF-2BC4-C8C893C4031D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87904A-6423-988E-2208-ED37F0B67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042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303594-A2F0-6FF2-548E-37EC54ECC2B1}"/>
              </a:ext>
            </a:extLst>
          </p:cNvPr>
          <p:cNvGrpSpPr/>
          <p:nvPr/>
        </p:nvGrpSpPr>
        <p:grpSpPr>
          <a:xfrm>
            <a:off x="4368053" y="2602468"/>
            <a:ext cx="1066800" cy="1066800"/>
            <a:chOff x="1143000" y="5295900"/>
            <a:chExt cx="1066800" cy="106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550357-4B7F-80E2-AA5D-29097771D73C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10" name="Flowchart: Extract 15">
              <a:extLst>
                <a:ext uri="{FF2B5EF4-FFF2-40B4-BE49-F238E27FC236}">
                  <a16:creationId xmlns:a16="http://schemas.microsoft.com/office/drawing/2014/main" id="{80A0A309-C8F5-529A-F46A-A9FB753BE84E}"/>
                </a:ext>
              </a:extLst>
            </p:cNvPr>
            <p:cNvSpPr/>
            <p:nvPr/>
          </p:nvSpPr>
          <p:spPr>
            <a:xfrm>
              <a:off x="1143000" y="5295900"/>
              <a:ext cx="1066800" cy="1066800"/>
            </a:xfrm>
            <a:custGeom>
              <a:avLst/>
              <a:gdLst>
                <a:gd name="connsiteX0" fmla="*/ 0 w 10000"/>
                <a:gd name="connsiteY0" fmla="*/ 10000 h 10000"/>
                <a:gd name="connsiteX1" fmla="*/ 5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0" fmla="*/ 0 w 10000"/>
                <a:gd name="connsiteY0" fmla="*/ 10000 h 10000"/>
                <a:gd name="connsiteX1" fmla="*/ 163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54" y="6667"/>
                    <a:pt x="109" y="3333"/>
                    <a:pt x="163" y="0"/>
                  </a:cubicBez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/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AF06A5E-CBA7-A158-82B1-A871F5415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523" y="5644634"/>
                  <a:ext cx="41068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/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592A5-ED3E-F92E-3650-8EEAF6B1B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535" y="1479639"/>
                <a:ext cx="1066800" cy="10824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FD579E0-6054-6C5B-860C-24FF9A68678E}"/>
              </a:ext>
            </a:extLst>
          </p:cNvPr>
          <p:cNvSpPr/>
          <p:nvPr/>
        </p:nvSpPr>
        <p:spPr>
          <a:xfrm>
            <a:off x="3276600" y="2586780"/>
            <a:ext cx="1066800" cy="1066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/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F3BE57-EBFA-B156-26B2-B13AA41EA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167" y="4267200"/>
                <a:ext cx="5778248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1ABA998-0F87-3C6C-C053-40A443EC34A1}"/>
              </a:ext>
            </a:extLst>
          </p:cNvPr>
          <p:cNvGrpSpPr/>
          <p:nvPr/>
        </p:nvGrpSpPr>
        <p:grpSpPr>
          <a:xfrm>
            <a:off x="1676400" y="5006900"/>
            <a:ext cx="5185317" cy="152400"/>
            <a:chOff x="1447800" y="3222700"/>
            <a:chExt cx="5185317" cy="152400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2D38BBED-5FBD-6AD0-20CE-459F423EF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E930D71C-A377-9E7F-3C03-92F12B512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E8B1AD43-7B8C-ADCD-6DF5-C2F33DF38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8941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6F93CFF7-ABD9-1F2C-A851-ED6C98DDB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850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4900D7B9-C56C-AD45-8CFB-DCBF87F41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15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980933AC-CA12-A924-A951-8F141F770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286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239997C9-B543-37B2-186A-F6384C69D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84BDDE4A-F5F2-FD83-C68D-2E3A16F98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2683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34A22C5F-8846-50B9-B3EE-56894D24D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2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A0C8BD3-BEA5-766B-5F4F-5DB1E56DB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2227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/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7925759-9667-5F8F-53D4-149004057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669268"/>
                <a:ext cx="3898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DA0804E-47FE-CBDA-1FE9-88742110FFC1}"/>
              </a:ext>
            </a:extLst>
          </p:cNvPr>
          <p:cNvCxnSpPr>
            <a:cxnSpLocks/>
          </p:cNvCxnSpPr>
          <p:nvPr/>
        </p:nvCxnSpPr>
        <p:spPr>
          <a:xfrm>
            <a:off x="4334256" y="4724400"/>
            <a:ext cx="0" cy="1066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/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E45CD62-4B4F-8C39-7DBD-8387A34E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0" y="1355254"/>
                <a:ext cx="1659750" cy="369332"/>
              </a:xfrm>
              <a:prstGeom prst="rect">
                <a:avLst/>
              </a:prstGeom>
              <a:blipFill>
                <a:blip r:embed="rId9"/>
                <a:stretch>
                  <a:fillRect l="-219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4274091B-5957-80CA-F36A-1023922D64E2}"/>
              </a:ext>
            </a:extLst>
          </p:cNvPr>
          <p:cNvSpPr/>
          <p:nvPr/>
        </p:nvSpPr>
        <p:spPr>
          <a:xfrm>
            <a:off x="2209800" y="4928841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AC4965-B1EB-B205-235A-1AC382230EAC}"/>
              </a:ext>
            </a:extLst>
          </p:cNvPr>
          <p:cNvSpPr/>
          <p:nvPr/>
        </p:nvSpPr>
        <p:spPr>
          <a:xfrm>
            <a:off x="6172200" y="4925800"/>
            <a:ext cx="304800" cy="298966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/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93DBEE-313B-2547-ABE7-83D9A1218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88" y="5193268"/>
                <a:ext cx="3186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/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93E2C-78AB-51B7-9273-9FD03FB0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03" y="5193268"/>
                <a:ext cx="324897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/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392C9B-D7F2-FDE0-CE67-C853C891F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079" y="44525"/>
                <a:ext cx="2337948" cy="523220"/>
              </a:xfrm>
              <a:prstGeom prst="rect">
                <a:avLst/>
              </a:prstGeom>
              <a:blipFill>
                <a:blip r:embed="rId12"/>
                <a:stretch>
                  <a:fillRect l="-548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/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57A013-90C0-FA75-B3D9-5AC9E289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7" y="1813222"/>
                <a:ext cx="1666162" cy="369332"/>
              </a:xfrm>
              <a:prstGeom prst="rect">
                <a:avLst/>
              </a:prstGeom>
              <a:blipFill>
                <a:blip r:embed="rId13"/>
                <a:stretch>
                  <a:fillRect l="-256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/>
              <p:nvPr/>
            </p:nvSpPr>
            <p:spPr>
              <a:xfrm>
                <a:off x="6045951" y="1446807"/>
                <a:ext cx="65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6D141E3-8D41-CC36-9148-A2EBF41A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51" y="1446807"/>
                <a:ext cx="65964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/>
              <p:nvPr/>
            </p:nvSpPr>
            <p:spPr>
              <a:xfrm>
                <a:off x="6629291" y="1446380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D7BCBC-1C80-2A22-691C-B24B0DE7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291" y="1446380"/>
                <a:ext cx="768064" cy="3796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/>
              <p:nvPr/>
            </p:nvSpPr>
            <p:spPr>
              <a:xfrm>
                <a:off x="7464459" y="1446380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E44AB8-ECB9-81C0-79A4-A3C9BF2B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59" y="1446380"/>
                <a:ext cx="768064" cy="37965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/>
              <p:nvPr/>
            </p:nvSpPr>
            <p:spPr>
              <a:xfrm>
                <a:off x="8299627" y="1447715"/>
                <a:ext cx="768064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9B25F2-BACB-427B-0938-525F29E0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627" y="1447715"/>
                <a:ext cx="768064" cy="379656"/>
              </a:xfrm>
              <a:prstGeom prst="rect">
                <a:avLst/>
              </a:prstGeom>
              <a:blipFill>
                <a:blip r:embed="rId17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F341EC-B165-A334-72B3-5D33028B71CF}"/>
                  </a:ext>
                </a:extLst>
              </p:cNvPr>
              <p:cNvSpPr txBox="1"/>
              <p:nvPr/>
            </p:nvSpPr>
            <p:spPr>
              <a:xfrm>
                <a:off x="6294911" y="1431058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F341EC-B165-A334-72B3-5D33028B7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911" y="1431058"/>
                <a:ext cx="41068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3C2719-000F-F65A-DE75-C88D3261ADD2}"/>
                  </a:ext>
                </a:extLst>
              </p:cNvPr>
              <p:cNvSpPr txBox="1"/>
              <p:nvPr/>
            </p:nvSpPr>
            <p:spPr>
              <a:xfrm>
                <a:off x="7142070" y="1446380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3C2719-000F-F65A-DE75-C88D3261A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070" y="1446380"/>
                <a:ext cx="41068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F197C3-C6C1-6C21-4C6D-C867F9E02947}"/>
                  </a:ext>
                </a:extLst>
              </p:cNvPr>
              <p:cNvSpPr txBox="1"/>
              <p:nvPr/>
            </p:nvSpPr>
            <p:spPr>
              <a:xfrm>
                <a:off x="7980695" y="1443518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F197C3-C6C1-6C21-4C6D-C867F9E02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695" y="1443518"/>
                <a:ext cx="41068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61AC1-19EE-485E-1022-369A078FB510}"/>
                  </a:ext>
                </a:extLst>
              </p:cNvPr>
              <p:cNvSpPr txBox="1"/>
              <p:nvPr/>
            </p:nvSpPr>
            <p:spPr>
              <a:xfrm>
                <a:off x="6015593" y="2197705"/>
                <a:ext cx="1118919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61AC1-19EE-485E-1022-369A078F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593" y="2197705"/>
                <a:ext cx="1118919" cy="379656"/>
              </a:xfrm>
              <a:prstGeom prst="rect">
                <a:avLst/>
              </a:prstGeom>
              <a:blipFill>
                <a:blip r:embed="rId21"/>
                <a:stretch>
                  <a:fillRect l="-1639" r="-2732" b="-9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61583EB-2152-60B9-F01B-47DFBF497AEF}"/>
                  </a:ext>
                </a:extLst>
              </p:cNvPr>
              <p:cNvSpPr txBox="1"/>
              <p:nvPr/>
            </p:nvSpPr>
            <p:spPr>
              <a:xfrm>
                <a:off x="7467600" y="2195036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61583EB-2152-60B9-F01B-47DFBF497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195036"/>
                <a:ext cx="1676400" cy="369332"/>
              </a:xfrm>
              <a:prstGeom prst="rect">
                <a:avLst/>
              </a:prstGeom>
              <a:blipFill>
                <a:blip r:embed="rId22"/>
                <a:stretch>
                  <a:fillRect l="-1091"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D92686-B433-F180-673E-5789479F84D7}"/>
                  </a:ext>
                </a:extLst>
              </p:cNvPr>
              <p:cNvSpPr txBox="1"/>
              <p:nvPr/>
            </p:nvSpPr>
            <p:spPr>
              <a:xfrm>
                <a:off x="7137497" y="2177107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D92686-B433-F180-673E-5789479F8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97" y="2177107"/>
                <a:ext cx="41068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9D9166-6658-5248-D225-E22008AC54A8}"/>
                  </a:ext>
                </a:extLst>
              </p:cNvPr>
              <p:cNvSpPr txBox="1"/>
              <p:nvPr/>
            </p:nvSpPr>
            <p:spPr>
              <a:xfrm>
                <a:off x="6294911" y="2880751"/>
                <a:ext cx="2078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9D9166-6658-5248-D225-E22008AC5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911" y="2880751"/>
                <a:ext cx="2078336" cy="369332"/>
              </a:xfrm>
              <a:prstGeom prst="rect">
                <a:avLst/>
              </a:prstGeom>
              <a:blipFill>
                <a:blip r:embed="rId24"/>
                <a:stretch>
                  <a:fillRect l="-880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CD51269E-1ECD-8EF5-3DCF-E3D7F8D629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CD51269E-1ECD-8EF5-3DCF-E3D7F8D629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023576"/>
                  </p:ext>
                </p:extLst>
              </p:nvPr>
            </p:nvGraphicFramePr>
            <p:xfrm>
              <a:off x="2787042" y="1459468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1667" r="-3175" b="-5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101667" r="-3175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5"/>
                          <a:stretch>
                            <a:fillRect l="-1587" t="-503333" r="-317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6B2BAE1A-2E6A-F9F7-AF8C-3BFA94E3439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6B2BAE1A-2E6A-F9F7-AF8C-3BFA94E34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362287"/>
                  </p:ext>
                </p:extLst>
              </p:nvPr>
            </p:nvGraphicFramePr>
            <p:xfrm>
              <a:off x="3278622" y="1002268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1639" t="-1587" r="-500000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200000" t="-1587" r="-30163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6"/>
                          <a:stretch>
                            <a:fillRect l="-506667" t="-1587" r="-5000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4C7DD2-76D9-E9A6-5659-72B5AFDFFB76}"/>
                  </a:ext>
                </a:extLst>
              </p:cNvPr>
              <p:cNvSpPr txBox="1"/>
              <p:nvPr/>
            </p:nvSpPr>
            <p:spPr>
              <a:xfrm>
                <a:off x="44254" y="3708164"/>
                <a:ext cx="3264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</a:rPr>
                  <a:t>Compute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4C7DD2-76D9-E9A6-5659-72B5AFDFF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4" y="3708164"/>
                <a:ext cx="3264292" cy="369332"/>
              </a:xfrm>
              <a:prstGeom prst="rect">
                <a:avLst/>
              </a:prstGeom>
              <a:blipFill>
                <a:blip r:embed="rId27"/>
                <a:stretch>
                  <a:fillRect l="-1163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784CBA-4145-0B74-426E-DD42AA449DCC}"/>
                  </a:ext>
                </a:extLst>
              </p:cNvPr>
              <p:cNvSpPr txBox="1"/>
              <p:nvPr/>
            </p:nvSpPr>
            <p:spPr>
              <a:xfrm>
                <a:off x="1832517" y="6119571"/>
                <a:ext cx="10631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784CBA-4145-0B74-426E-DD42AA44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517" y="6119571"/>
                <a:ext cx="1063112" cy="369332"/>
              </a:xfrm>
              <a:prstGeom prst="rect">
                <a:avLst/>
              </a:prstGeom>
              <a:blipFill>
                <a:blip r:embed="rId2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9776DB-8E29-8671-F140-5D7D86E36ECA}"/>
                  </a:ext>
                </a:extLst>
              </p:cNvPr>
              <p:cNvSpPr txBox="1"/>
              <p:nvPr/>
            </p:nvSpPr>
            <p:spPr>
              <a:xfrm>
                <a:off x="2746888" y="6019800"/>
                <a:ext cx="2595647" cy="568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9776DB-8E29-8671-F140-5D7D86E3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888" y="6019800"/>
                <a:ext cx="2595647" cy="568874"/>
              </a:xfrm>
              <a:prstGeom prst="rect">
                <a:avLst/>
              </a:prstGeom>
              <a:blipFill>
                <a:blip r:embed="rId2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369A7B-4197-4603-9B02-6BAA11C11A91}"/>
                  </a:ext>
                </a:extLst>
              </p:cNvPr>
              <p:cNvSpPr txBox="1"/>
              <p:nvPr/>
            </p:nvSpPr>
            <p:spPr>
              <a:xfrm>
                <a:off x="5454142" y="6119571"/>
                <a:ext cx="1175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p>
                      </m:sSup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369A7B-4197-4603-9B02-6BAA11C11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142" y="6119571"/>
                <a:ext cx="1175258" cy="369332"/>
              </a:xfrm>
              <a:prstGeom prst="rect">
                <a:avLst/>
              </a:prstGeom>
              <a:blipFill>
                <a:blip r:embed="rId3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801E097-EC8A-D7DE-1AF6-7C4344E12C4F}"/>
                  </a:ext>
                </a:extLst>
              </p:cNvPr>
              <p:cNvSpPr txBox="1"/>
              <p:nvPr/>
            </p:nvSpPr>
            <p:spPr>
              <a:xfrm>
                <a:off x="3619632" y="6107668"/>
                <a:ext cx="19429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+ (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</m:oMath>
                </a14:m>
                <a:r>
                  <a:rPr lang="en-US" dirty="0"/>
                  <a:t>     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801E097-EC8A-D7DE-1AF6-7C4344E12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632" y="6107668"/>
                <a:ext cx="1942968" cy="369332"/>
              </a:xfrm>
              <a:prstGeom prst="rect">
                <a:avLst/>
              </a:prstGeom>
              <a:blipFill>
                <a:blip r:embed="rId3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346DF2-889C-0AF5-1010-92064A2F2E2F}"/>
                  </a:ext>
                </a:extLst>
              </p:cNvPr>
              <p:cNvSpPr txBox="1"/>
              <p:nvPr/>
            </p:nvSpPr>
            <p:spPr>
              <a:xfrm>
                <a:off x="2442117" y="6118001"/>
                <a:ext cx="28463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346DF2-889C-0AF5-1010-92064A2F2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117" y="6118001"/>
                <a:ext cx="284638" cy="369332"/>
              </a:xfrm>
              <a:prstGeom prst="rect">
                <a:avLst/>
              </a:prstGeom>
              <a:blipFill>
                <a:blip r:embed="rId32"/>
                <a:stretch>
                  <a:fillRect r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loud Callout 45">
            <a:extLst>
              <a:ext uri="{FF2B5EF4-FFF2-40B4-BE49-F238E27FC236}">
                <a16:creationId xmlns:a16="http://schemas.microsoft.com/office/drawing/2014/main" id="{5A0C4658-157C-4AC2-9AC5-4D1F3B30A43C}"/>
              </a:ext>
            </a:extLst>
          </p:cNvPr>
          <p:cNvSpPr/>
          <p:nvPr/>
        </p:nvSpPr>
        <p:spPr>
          <a:xfrm>
            <a:off x="3838051" y="4688752"/>
            <a:ext cx="4953000" cy="928763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time complexity of the algorithm ?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C59A100-021F-3B4E-3054-07E36DA8BB40}"/>
              </a:ext>
            </a:extLst>
          </p:cNvPr>
          <p:cNvSpPr/>
          <p:nvPr/>
        </p:nvSpPr>
        <p:spPr>
          <a:xfrm>
            <a:off x="417236" y="1371599"/>
            <a:ext cx="1465508" cy="8055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0133CA2-9335-FE64-EABB-77F7287573F0}"/>
              </a:ext>
            </a:extLst>
          </p:cNvPr>
          <p:cNvSpPr/>
          <p:nvPr/>
        </p:nvSpPr>
        <p:spPr>
          <a:xfrm>
            <a:off x="350673" y="3708163"/>
            <a:ext cx="2848405" cy="42346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4B408E3-58A1-F26C-1C96-739502410E68}"/>
              </a:ext>
            </a:extLst>
          </p:cNvPr>
          <p:cNvSpPr/>
          <p:nvPr/>
        </p:nvSpPr>
        <p:spPr>
          <a:xfrm>
            <a:off x="3676167" y="6025754"/>
            <a:ext cx="1695725" cy="603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73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0" grpId="0"/>
      <p:bldP spid="47" grpId="0"/>
      <p:bldP spid="50" grpId="0"/>
      <p:bldP spid="14" grpId="0"/>
      <p:bldP spid="17" grpId="0"/>
      <p:bldP spid="29" grpId="0"/>
      <p:bldP spid="42" grpId="0"/>
      <p:bldP spid="43" grpId="0" animBg="1"/>
      <p:bldP spid="44" grpId="0" animBg="1"/>
      <p:bldP spid="46" grpId="0" animBg="1"/>
      <p:bldP spid="46" grpId="1" animBg="1"/>
      <p:bldP spid="48" grpId="0" animBg="1"/>
      <p:bldP spid="49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1</a:t>
                </a:r>
                <a:r>
                  <a:rPr lang="en-US" sz="2000" b="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transitive closure of graph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 l="-702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9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1</a:t>
                </a:r>
                <a:r>
                  <a:rPr lang="en-US" sz="2000" b="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transitive closure of graph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b="1"/>
              </a:p>
              <a:p>
                <a:pPr marL="0" indent="0" algn="ctr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Theorem2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multiply two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matrices 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time, where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time complexity of computing transitive closure of a graph 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vertices.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(Work on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Theorem2 </a:t>
                </a:r>
                <a:r>
                  <a:rPr lang="en-US" sz="2000" dirty="0"/>
                  <a:t>during winter vacation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 l="-702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0E4CCA-0155-1021-B4DE-3238CA5337F4}"/>
              </a:ext>
            </a:extLst>
          </p:cNvPr>
          <p:cNvSpPr/>
          <p:nvPr/>
        </p:nvSpPr>
        <p:spPr>
          <a:xfrm>
            <a:off x="2325710" y="1905000"/>
            <a:ext cx="2703490" cy="4846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33DEFA-40BB-5D4C-D53C-41D8183F0361}"/>
              </a:ext>
            </a:extLst>
          </p:cNvPr>
          <p:cNvSpPr/>
          <p:nvPr/>
        </p:nvSpPr>
        <p:spPr>
          <a:xfrm>
            <a:off x="1371600" y="4473263"/>
            <a:ext cx="2895600" cy="4846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-down Arrow 5">
            <a:extLst>
              <a:ext uri="{FF2B5EF4-FFF2-40B4-BE49-F238E27FC236}">
                <a16:creationId xmlns:a16="http://schemas.microsoft.com/office/drawing/2014/main" id="{7F6FFF88-B924-39B0-6C62-DC30E948293B}"/>
              </a:ext>
            </a:extLst>
          </p:cNvPr>
          <p:cNvSpPr/>
          <p:nvPr/>
        </p:nvSpPr>
        <p:spPr>
          <a:xfrm>
            <a:off x="2514600" y="2384737"/>
            <a:ext cx="408432" cy="210801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DE2E4-99D2-7BDB-8BEA-A25B3351D19E}"/>
              </a:ext>
            </a:extLst>
          </p:cNvPr>
          <p:cNvSpPr txBox="1"/>
          <p:nvPr/>
        </p:nvSpPr>
        <p:spPr>
          <a:xfrm>
            <a:off x="1589628" y="3258449"/>
            <a:ext cx="225837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Same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125320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7479</TotalTime>
  <Words>1431</Words>
  <Application>Microsoft Office PowerPoint</Application>
  <PresentationFormat>On-screen Show (4:3)</PresentationFormat>
  <Paragraphs>918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Recall Lecture 19</vt:lpstr>
      <vt:lpstr>First let us understand  what the problem means</vt:lpstr>
      <vt:lpstr>PowerPoint Presentation</vt:lpstr>
      <vt:lpstr>Make use of the SCC graph</vt:lpstr>
      <vt:lpstr>High level overview of the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502</cp:revision>
  <dcterms:created xsi:type="dcterms:W3CDTF">2011-12-03T04:13:03Z</dcterms:created>
  <dcterms:modified xsi:type="dcterms:W3CDTF">2025-09-29T10:21:29Z</dcterms:modified>
</cp:coreProperties>
</file>